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23"/>
  </p:notesMasterIdLst>
  <p:sldIdLst>
    <p:sldId id="276" r:id="rId2"/>
    <p:sldId id="256" r:id="rId3"/>
    <p:sldId id="277" r:id="rId4"/>
    <p:sldId id="258" r:id="rId5"/>
    <p:sldId id="275"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kesh j" userId="4c3a40a6f26c5e04" providerId="LiveId" clId="{E44DE85D-153B-4FD6-853E-8E45F3D5D841}"/>
    <pc:docChg chg="custSel addSld modSld">
      <pc:chgData name="yokesh j" userId="4c3a40a6f26c5e04" providerId="LiveId" clId="{E44DE85D-153B-4FD6-853E-8E45F3D5D841}" dt="2026-05-07T05:46:19.362" v="14" actId="27636"/>
      <pc:docMkLst>
        <pc:docMk/>
      </pc:docMkLst>
      <pc:sldChg chg="modSp mod">
        <pc:chgData name="yokesh j" userId="4c3a40a6f26c5e04" providerId="LiveId" clId="{E44DE85D-153B-4FD6-853E-8E45F3D5D841}" dt="2026-05-07T05:41:14.736" v="8" actId="20577"/>
        <pc:sldMkLst>
          <pc:docMk/>
          <pc:sldMk cId="2461938538" sldId="276"/>
        </pc:sldMkLst>
        <pc:spChg chg="mod">
          <ac:chgData name="yokesh j" userId="4c3a40a6f26c5e04" providerId="LiveId" clId="{E44DE85D-153B-4FD6-853E-8E45F3D5D841}" dt="2026-05-06T15:41:17.246" v="6" actId="1076"/>
          <ac:spMkLst>
            <pc:docMk/>
            <pc:sldMk cId="2461938538" sldId="276"/>
            <ac:spMk id="2" creationId="{193B13CD-A467-4793-56EC-8982A64C17B0}"/>
          </ac:spMkLst>
        </pc:spChg>
        <pc:spChg chg="mod">
          <ac:chgData name="yokesh j" userId="4c3a40a6f26c5e04" providerId="LiveId" clId="{E44DE85D-153B-4FD6-853E-8E45F3D5D841}" dt="2026-05-07T05:41:14.736" v="8" actId="20577"/>
          <ac:spMkLst>
            <pc:docMk/>
            <pc:sldMk cId="2461938538" sldId="276"/>
            <ac:spMk id="3" creationId="{8CE07AC6-C1E9-AF09-6F3D-35C3278A3A2D}"/>
          </ac:spMkLst>
        </pc:spChg>
      </pc:sldChg>
      <pc:sldChg chg="delSp modSp new mod">
        <pc:chgData name="yokesh j" userId="4c3a40a6f26c5e04" providerId="LiveId" clId="{E44DE85D-153B-4FD6-853E-8E45F3D5D841}" dt="2026-05-07T05:46:19.362" v="14" actId="27636"/>
        <pc:sldMkLst>
          <pc:docMk/>
          <pc:sldMk cId="2479067165" sldId="277"/>
        </pc:sldMkLst>
        <pc:spChg chg="del">
          <ac:chgData name="yokesh j" userId="4c3a40a6f26c5e04" providerId="LiveId" clId="{E44DE85D-153B-4FD6-853E-8E45F3D5D841}" dt="2026-05-07T05:46:10.656" v="12" actId="21"/>
          <ac:spMkLst>
            <pc:docMk/>
            <pc:sldMk cId="2479067165" sldId="277"/>
            <ac:spMk id="2" creationId="{88510A0E-74D5-0DEF-6091-A950D67005F9}"/>
          </ac:spMkLst>
        </pc:spChg>
        <pc:spChg chg="mod">
          <ac:chgData name="yokesh j" userId="4c3a40a6f26c5e04" providerId="LiveId" clId="{E44DE85D-153B-4FD6-853E-8E45F3D5D841}" dt="2026-05-07T05:46:19.362" v="14" actId="27636"/>
          <ac:spMkLst>
            <pc:docMk/>
            <pc:sldMk cId="2479067165" sldId="277"/>
            <ac:spMk id="3" creationId="{3E5D9E12-6A60-5ECE-C77D-26BD342EBC0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EB358-8E34-443E-A1E1-9E192466A7AB}" type="datetimeFigureOut">
              <a:rPr lang="en-IN" smtClean="0"/>
              <a:t>07-05-2026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0B9E9D-16A2-4587-BE53-CD9EAB301BFE}" type="slidenum">
              <a:rPr lang="en-IN" smtClean="0"/>
              <a:t>‹#›</a:t>
            </a:fld>
            <a:endParaRPr lang="en-IN"/>
          </a:p>
        </p:txBody>
      </p:sp>
    </p:spTree>
    <p:extLst>
      <p:ext uri="{BB962C8B-B14F-4D97-AF65-F5344CB8AC3E}">
        <p14:creationId xmlns:p14="http://schemas.microsoft.com/office/powerpoint/2010/main" val="35702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282B1F8-EFA2-4AA6-B7D5-7BC4E05434C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09288A-10BC-456C-92C2-39322EAA1444}"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456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82B1F8-EFA2-4AA6-B7D5-7BC4E05434C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09288A-10BC-456C-92C2-39322EAA1444}" type="slidenum">
              <a:rPr lang="en-IN" smtClean="0"/>
              <a:t>‹#›</a:t>
            </a:fld>
            <a:endParaRPr lang="en-IN"/>
          </a:p>
        </p:txBody>
      </p:sp>
    </p:spTree>
    <p:extLst>
      <p:ext uri="{BB962C8B-B14F-4D97-AF65-F5344CB8AC3E}">
        <p14:creationId xmlns:p14="http://schemas.microsoft.com/office/powerpoint/2010/main" val="1392571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82B1F8-EFA2-4AA6-B7D5-7BC4E05434C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09288A-10BC-456C-92C2-39322EAA1444}"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1904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82B1F8-EFA2-4AA6-B7D5-7BC4E05434CD}"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09288A-10BC-456C-92C2-39322EAA1444}" type="slidenum">
              <a:rPr lang="en-IN" smtClean="0"/>
              <a:t>‹#›</a:t>
            </a:fld>
            <a:endParaRPr lang="en-IN"/>
          </a:p>
        </p:txBody>
      </p:sp>
    </p:spTree>
    <p:extLst>
      <p:ext uri="{BB962C8B-B14F-4D97-AF65-F5344CB8AC3E}">
        <p14:creationId xmlns:p14="http://schemas.microsoft.com/office/powerpoint/2010/main" val="125931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82B1F8-EFA2-4AA6-B7D5-7BC4E05434CD}" type="datetimeFigureOut">
              <a:rPr lang="en-IN" smtClean="0"/>
              <a:t>07-05-2026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809288A-10BC-456C-92C2-39322EAA1444}" type="slidenum">
              <a:rPr lang="en-IN" smtClean="0"/>
              <a:t>‹#›</a:t>
            </a:fld>
            <a:endParaRPr lang="en-IN"/>
          </a:p>
        </p:txBody>
      </p:sp>
    </p:spTree>
    <p:extLst>
      <p:ext uri="{BB962C8B-B14F-4D97-AF65-F5344CB8AC3E}">
        <p14:creationId xmlns:p14="http://schemas.microsoft.com/office/powerpoint/2010/main" val="322819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82B1F8-EFA2-4AA6-B7D5-7BC4E05434CD}" type="datetimeFigureOut">
              <a:rPr lang="en-IN" smtClean="0"/>
              <a:t>07-05-2026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809288A-10BC-456C-92C2-39322EAA1444}" type="slidenum">
              <a:rPr lang="en-IN" smtClean="0"/>
              <a:t>‹#›</a:t>
            </a:fld>
            <a:endParaRPr lang="en-IN"/>
          </a:p>
        </p:txBody>
      </p:sp>
    </p:spTree>
    <p:extLst>
      <p:ext uri="{BB962C8B-B14F-4D97-AF65-F5344CB8AC3E}">
        <p14:creationId xmlns:p14="http://schemas.microsoft.com/office/powerpoint/2010/main" val="20361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82B1F8-EFA2-4AA6-B7D5-7BC4E05434CD}" type="datetimeFigureOut">
              <a:rPr lang="en-IN" smtClean="0"/>
              <a:t>07-05-2026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809288A-10BC-456C-92C2-39322EAA1444}" type="slidenum">
              <a:rPr lang="en-IN" smtClean="0"/>
              <a:t>‹#›</a:t>
            </a:fld>
            <a:endParaRPr lang="en-IN"/>
          </a:p>
        </p:txBody>
      </p:sp>
    </p:spTree>
    <p:extLst>
      <p:ext uri="{BB962C8B-B14F-4D97-AF65-F5344CB8AC3E}">
        <p14:creationId xmlns:p14="http://schemas.microsoft.com/office/powerpoint/2010/main" val="3776187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82B1F8-EFA2-4AA6-B7D5-7BC4E05434CD}"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09288A-10BC-456C-92C2-39322EAA1444}" type="slidenum">
              <a:rPr lang="en-IN" smtClean="0"/>
              <a:t>‹#›</a:t>
            </a:fld>
            <a:endParaRPr lang="en-IN"/>
          </a:p>
        </p:txBody>
      </p:sp>
    </p:spTree>
    <p:extLst>
      <p:ext uri="{BB962C8B-B14F-4D97-AF65-F5344CB8AC3E}">
        <p14:creationId xmlns:p14="http://schemas.microsoft.com/office/powerpoint/2010/main" val="3891701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82B1F8-EFA2-4AA6-B7D5-7BC4E05434CD}" type="datetimeFigureOut">
              <a:rPr lang="en-IN" smtClean="0"/>
              <a:t>07-05-2026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09288A-10BC-456C-92C2-39322EAA1444}"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2295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82B1F8-EFA2-4AA6-B7D5-7BC4E05434C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09288A-10BC-456C-92C2-39322EAA1444}" type="slidenum">
              <a:rPr lang="en-IN" smtClean="0"/>
              <a:t>‹#›</a:t>
            </a:fld>
            <a:endParaRPr lang="en-IN"/>
          </a:p>
        </p:txBody>
      </p:sp>
    </p:spTree>
    <p:extLst>
      <p:ext uri="{BB962C8B-B14F-4D97-AF65-F5344CB8AC3E}">
        <p14:creationId xmlns:p14="http://schemas.microsoft.com/office/powerpoint/2010/main" val="2484784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82B1F8-EFA2-4AA6-B7D5-7BC4E05434CD}" type="datetimeFigureOut">
              <a:rPr lang="en-IN" smtClean="0"/>
              <a:t>07-05-2026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09288A-10BC-456C-92C2-39322EAA1444}"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832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282B1F8-EFA2-4AA6-B7D5-7BC4E05434CD}" type="datetimeFigureOut">
              <a:rPr lang="en-IN" smtClean="0"/>
              <a:t>07-05-2026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809288A-10BC-456C-92C2-39322EAA1444}"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9054379"/>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file:///C:\Users\HP\Desktop\Data%20Analyst\Internship%20project\Final_Cleaned_Hospital_Data.csv" TargetMode="External"/><Relationship Id="rId2" Type="http://schemas.openxmlformats.org/officeDocument/2006/relationships/hyperlink" Target="file:///C:\Users\HP\Desktop\Data%20Analyst\Internship%20project\Hospital_Data.csv"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Internship%20project/HospitalDataAnalysis.pbix" TargetMode="Externa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B13CD-A467-4793-56EC-8982A64C17B0}"/>
              </a:ext>
            </a:extLst>
          </p:cNvPr>
          <p:cNvSpPr>
            <a:spLocks noGrp="1"/>
          </p:cNvSpPr>
          <p:nvPr>
            <p:ph type="title"/>
          </p:nvPr>
        </p:nvSpPr>
        <p:spPr>
          <a:xfrm>
            <a:off x="1061449" y="692936"/>
            <a:ext cx="10069102" cy="1280890"/>
          </a:xfrm>
        </p:spPr>
        <p:txBody>
          <a:bodyPr>
            <a:normAutofit fontScale="90000"/>
          </a:bodyPr>
          <a:lstStyle/>
          <a:p>
            <a:pPr algn="ctr"/>
            <a:r>
              <a:rPr lang="en-US" sz="4800" b="1" dirty="0">
                <a:solidFill>
                  <a:schemeClr val="tx2">
                    <a:lumMod val="75000"/>
                  </a:schemeClr>
                </a:solidFill>
                <a:latin typeface="Times New Roman" pitchFamily="18" charset="0"/>
                <a:cs typeface="Times New Roman" pitchFamily="18" charset="0"/>
              </a:rPr>
              <a:t>A R ENGINEERING COLLEGE </a:t>
            </a:r>
            <a:br>
              <a:rPr lang="en-US" sz="4800" b="1" dirty="0">
                <a:solidFill>
                  <a:schemeClr val="tx2">
                    <a:lumMod val="75000"/>
                  </a:schemeClr>
                </a:solidFill>
                <a:latin typeface="Times New Roman" pitchFamily="18" charset="0"/>
                <a:cs typeface="Times New Roman" pitchFamily="18" charset="0"/>
              </a:rPr>
            </a:br>
            <a:r>
              <a:rPr lang="en-US" b="1" dirty="0">
                <a:solidFill>
                  <a:schemeClr val="tx2">
                    <a:lumMod val="75000"/>
                  </a:schemeClr>
                </a:solidFill>
                <a:latin typeface="Times New Roman" pitchFamily="18" charset="0"/>
                <a:cs typeface="Times New Roman" pitchFamily="18" charset="0"/>
              </a:rPr>
              <a:t>VILLUPURAM-605601</a:t>
            </a:r>
            <a:br>
              <a:rPr lang="en-US" b="1" dirty="0">
                <a:latin typeface="Times New Roman" pitchFamily="18" charset="0"/>
                <a:cs typeface="Times New Roman" pitchFamily="18" charset="0"/>
              </a:rPr>
            </a:br>
            <a:endParaRPr lang="en-IN" dirty="0"/>
          </a:p>
        </p:txBody>
      </p:sp>
      <p:sp>
        <p:nvSpPr>
          <p:cNvPr id="3" name="Content Placeholder 2">
            <a:extLst>
              <a:ext uri="{FF2B5EF4-FFF2-40B4-BE49-F238E27FC236}">
                <a16:creationId xmlns:a16="http://schemas.microsoft.com/office/drawing/2014/main" id="{8CE07AC6-C1E9-AF09-6F3D-35C3278A3A2D}"/>
              </a:ext>
            </a:extLst>
          </p:cNvPr>
          <p:cNvSpPr>
            <a:spLocks noGrp="1"/>
          </p:cNvSpPr>
          <p:nvPr>
            <p:ph idx="1"/>
          </p:nvPr>
        </p:nvSpPr>
        <p:spPr>
          <a:xfrm>
            <a:off x="1435511" y="4541520"/>
            <a:ext cx="10206753" cy="5100319"/>
          </a:xfrm>
        </p:spPr>
        <p:txBody>
          <a:bodyPr>
            <a:normAutofit/>
          </a:bodyPr>
          <a:lstStyle/>
          <a:p>
            <a:r>
              <a:rPr lang="en-US" sz="2000" b="1" dirty="0">
                <a:solidFill>
                  <a:srgbClr val="00B0F0"/>
                </a:solidFill>
              </a:rPr>
              <a:t> </a:t>
            </a:r>
            <a:r>
              <a:rPr lang="en-US" sz="2000" dirty="0">
                <a:ln w="0"/>
                <a:solidFill>
                  <a:schemeClr val="tx1"/>
                </a:solidFill>
                <a:effectLst>
                  <a:outerShdw blurRad="38100" dist="19050" dir="2700000" algn="tl" rotWithShape="0">
                    <a:schemeClr val="dk1">
                      <a:alpha val="40000"/>
                    </a:schemeClr>
                  </a:outerShdw>
                </a:effectLst>
                <a:latin typeface="Aparajita" panose="02020603050405020304" pitchFamily="18" charset="0"/>
                <a:cs typeface="Aparajita" panose="02020603050405020304" pitchFamily="18" charset="0"/>
              </a:rPr>
              <a:t>PROJECT MEMBERS                                                                 UNDER THE GUIDANCE OF   </a:t>
            </a:r>
          </a:p>
          <a:p>
            <a:pPr lvl="1"/>
            <a:r>
              <a:rPr lang="en-US" sz="2000" dirty="0">
                <a:ln w="0"/>
                <a:solidFill>
                  <a:schemeClr val="tx1"/>
                </a:solidFill>
                <a:effectLst>
                  <a:outerShdw blurRad="38100" dist="19050" dir="2700000" algn="tl" rotWithShape="0">
                    <a:schemeClr val="dk1">
                      <a:alpha val="40000"/>
                    </a:schemeClr>
                  </a:outerShdw>
                </a:effectLst>
                <a:latin typeface="Aparajita" panose="02020603050405020304" pitchFamily="18" charset="0"/>
                <a:cs typeface="Aparajita" panose="02020603050405020304" pitchFamily="18" charset="0"/>
              </a:rPr>
              <a:t>S.SURYA (420322213016)           			</a:t>
            </a:r>
            <a:r>
              <a:rPr lang="en-US" sz="2000" dirty="0" err="1">
                <a:ln w="0"/>
                <a:solidFill>
                  <a:schemeClr val="tx1"/>
                </a:solidFill>
                <a:effectLst>
                  <a:outerShdw blurRad="38100" dist="19050" dir="2700000" algn="tl" rotWithShape="0">
                    <a:schemeClr val="dk1">
                      <a:alpha val="40000"/>
                    </a:schemeClr>
                  </a:outerShdw>
                </a:effectLst>
                <a:latin typeface="Aparajita" panose="02020603050405020304" pitchFamily="18" charset="0"/>
                <a:cs typeface="Aparajita" panose="02020603050405020304" pitchFamily="18" charset="0"/>
              </a:rPr>
              <a:t>Ms.DEEPALAKSHMI</a:t>
            </a:r>
            <a:endParaRPr lang="en-US" sz="2000" dirty="0">
              <a:ln w="0"/>
              <a:solidFill>
                <a:schemeClr val="tx1"/>
              </a:solidFill>
              <a:effectLst>
                <a:outerShdw blurRad="38100" dist="19050" dir="2700000" algn="tl" rotWithShape="0">
                  <a:schemeClr val="dk1">
                    <a:alpha val="40000"/>
                  </a:schemeClr>
                </a:outerShdw>
              </a:effectLst>
              <a:latin typeface="Aparajita" panose="02020603050405020304" pitchFamily="18" charset="0"/>
              <a:cs typeface="Aparajita" panose="02020603050405020304" pitchFamily="18" charset="0"/>
            </a:endParaRPr>
          </a:p>
          <a:p>
            <a:pPr lvl="1"/>
            <a:r>
              <a:rPr lang="en-US" sz="2000" dirty="0">
                <a:ln w="0"/>
                <a:solidFill>
                  <a:schemeClr val="tx1"/>
                </a:solidFill>
                <a:effectLst>
                  <a:outerShdw blurRad="38100" dist="19050" dir="2700000" algn="tl" rotWithShape="0">
                    <a:schemeClr val="dk1">
                      <a:alpha val="40000"/>
                    </a:schemeClr>
                  </a:outerShdw>
                </a:effectLst>
                <a:latin typeface="Aparajita" panose="02020603050405020304" pitchFamily="18" charset="0"/>
                <a:cs typeface="Aparajita" panose="02020603050405020304" pitchFamily="18" charset="0"/>
              </a:rPr>
              <a:t>R.SURESH(420322213015)</a:t>
            </a:r>
            <a:endParaRPr lang="en-IN" sz="2000" dirty="0">
              <a:ln w="0"/>
              <a:solidFill>
                <a:schemeClr val="tx1"/>
              </a:solidFill>
              <a:effectLst>
                <a:outerShdw blurRad="38100" dist="19050" dir="2700000" algn="tl" rotWithShape="0">
                  <a:schemeClr val="dk1">
                    <a:alpha val="40000"/>
                  </a:schemeClr>
                </a:outerShdw>
              </a:effectLst>
              <a:latin typeface="Aparajita" panose="02020603050405020304" pitchFamily="18" charset="0"/>
              <a:cs typeface="Aparajita" panose="02020603050405020304" pitchFamily="18" charset="0"/>
            </a:endParaRPr>
          </a:p>
          <a:p>
            <a:pPr lvl="1"/>
            <a:r>
              <a:rPr lang="en-IN" sz="2000" dirty="0">
                <a:ln w="0"/>
                <a:solidFill>
                  <a:schemeClr val="tx1"/>
                </a:solidFill>
                <a:effectLst>
                  <a:outerShdw blurRad="38100" dist="19050" dir="2700000" algn="tl" rotWithShape="0">
                    <a:schemeClr val="dk1">
                      <a:alpha val="40000"/>
                    </a:schemeClr>
                  </a:outerShdw>
                </a:effectLst>
                <a:latin typeface="Aparajita" panose="02020603050405020304" pitchFamily="18" charset="0"/>
                <a:cs typeface="Aparajita" panose="02020603050405020304" pitchFamily="18" charset="0"/>
              </a:rPr>
              <a:t>J.YOGESHWARAN</a:t>
            </a:r>
            <a:r>
              <a:rPr lang="en-US" sz="2000" dirty="0">
                <a:ln w="0"/>
                <a:solidFill>
                  <a:schemeClr val="tx1"/>
                </a:solidFill>
                <a:effectLst>
                  <a:outerShdw blurRad="38100" dist="19050" dir="2700000" algn="tl" rotWithShape="0">
                    <a:schemeClr val="dk1">
                      <a:alpha val="40000"/>
                    </a:schemeClr>
                  </a:outerShdw>
                </a:effectLst>
                <a:latin typeface="Aparajita" panose="02020603050405020304" pitchFamily="18" charset="0"/>
                <a:cs typeface="Aparajita" panose="02020603050405020304" pitchFamily="18" charset="0"/>
              </a:rPr>
              <a:t> (420322213019)</a:t>
            </a:r>
            <a:endParaRPr lang="en-US" sz="2000" b="1" dirty="0">
              <a:solidFill>
                <a:srgbClr val="0070C0"/>
              </a:solidFill>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2461938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949C60-3048-C309-F162-1C149DF46E90}"/>
              </a:ext>
            </a:extLst>
          </p:cNvPr>
          <p:cNvSpPr txBox="1"/>
          <p:nvPr/>
        </p:nvSpPr>
        <p:spPr>
          <a:xfrm>
            <a:off x="1801368" y="2711055"/>
            <a:ext cx="8589264" cy="1077218"/>
          </a:xfrm>
          <a:prstGeom prst="rect">
            <a:avLst/>
          </a:prstGeom>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IN" sz="3200" dirty="0">
                <a:solidFill>
                  <a:schemeClr val="accent1"/>
                </a:solidFill>
                <a:latin typeface="Engravers MT" panose="02090707080505020304" pitchFamily="18" charset="0"/>
              </a:rPr>
              <a:t>Hospital Performance and Patient Analytics</a:t>
            </a:r>
          </a:p>
        </p:txBody>
      </p:sp>
    </p:spTree>
    <p:extLst>
      <p:ext uri="{BB962C8B-B14F-4D97-AF65-F5344CB8AC3E}">
        <p14:creationId xmlns:p14="http://schemas.microsoft.com/office/powerpoint/2010/main" val="153832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5D9E12-6A60-5ECE-C77D-26BD342EBC05}"/>
              </a:ext>
            </a:extLst>
          </p:cNvPr>
          <p:cNvSpPr>
            <a:spLocks noGrp="1"/>
          </p:cNvSpPr>
          <p:nvPr>
            <p:ph idx="1"/>
          </p:nvPr>
        </p:nvSpPr>
        <p:spPr>
          <a:xfrm>
            <a:off x="1024128" y="688258"/>
            <a:ext cx="9720073" cy="5621102"/>
          </a:xfrm>
        </p:spPr>
        <p:txBody>
          <a:bodyPr>
            <a:normAutofit fontScale="85000" lnSpcReduction="20000"/>
          </a:bodyPr>
          <a:lstStyle/>
          <a:p>
            <a:pPr marL="0" lvl="0" indent="0" eaLnBrk="0" fontAlgn="base" hangingPunct="0">
              <a:lnSpc>
                <a:spcPct val="100000"/>
              </a:lnSpc>
              <a:spcBef>
                <a:spcPct val="0"/>
              </a:spcBef>
              <a:spcAft>
                <a:spcPct val="0"/>
              </a:spcAft>
              <a:buClrTx/>
              <a:buSzTx/>
            </a:pPr>
            <a:r>
              <a:rPr lang="en-US" altLang="en-US" sz="2800" b="1" u="sng" dirty="0">
                <a:latin typeface="Arial Black" panose="020B0A04020102020204" pitchFamily="34" charset="0"/>
              </a:rPr>
              <a:t>ABSTRACT:</a:t>
            </a:r>
          </a:p>
          <a:p>
            <a:pPr marL="0" lvl="0" indent="0" eaLnBrk="0" fontAlgn="base" hangingPunct="0">
              <a:lnSpc>
                <a:spcPct val="100000"/>
              </a:lnSpc>
              <a:spcBef>
                <a:spcPct val="0"/>
              </a:spcBef>
              <a:spcAft>
                <a:spcPct val="0"/>
              </a:spcAft>
              <a:buClrTx/>
              <a:buSzTx/>
            </a:pPr>
            <a:r>
              <a:rPr lang="en-US" altLang="en-US" b="1" dirty="0">
                <a:latin typeface="Arial" panose="020B0604020202020204" pitchFamily="34" charset="0"/>
              </a:rPr>
              <a:t>1.Problem Statement</a:t>
            </a:r>
            <a:r>
              <a:rPr lang="en-US" altLang="en-US" dirty="0">
                <a:latin typeface="Arial" panose="020B0604020202020204" pitchFamily="34" charset="0"/>
              </a:rPr>
              <a:t>: Hospitals struggle with long waiting times, high costs, frequent readmissions, poor reporting, and lack of doctor performance evaluation. </a:t>
            </a:r>
          </a:p>
          <a:p>
            <a:pPr marL="0" lvl="0" indent="0" eaLnBrk="0" fontAlgn="base" hangingPunct="0">
              <a:lnSpc>
                <a:spcPct val="100000"/>
              </a:lnSpc>
              <a:spcBef>
                <a:spcPct val="0"/>
              </a:spcBef>
              <a:spcAft>
                <a:spcPct val="0"/>
              </a:spcAft>
              <a:buClrTx/>
              <a:buSzTx/>
              <a:buFontTx/>
              <a:buAutoNum type="arabicPeriod"/>
            </a:pPr>
            <a:r>
              <a:rPr lang="en-US" altLang="en-US" sz="2400" b="1" dirty="0">
                <a:latin typeface="Arial" panose="020B0604020202020204" pitchFamily="34" charset="0"/>
              </a:rPr>
              <a:t>Project Goal</a:t>
            </a:r>
            <a:r>
              <a:rPr lang="en-US" altLang="en-US" sz="2400" dirty="0">
                <a:latin typeface="Arial" panose="020B0604020202020204" pitchFamily="34" charset="0"/>
              </a:rPr>
              <a:t>: Transform raw hospital data into actionable insights to improve efficiency, patient care, and financial outcomes. </a:t>
            </a:r>
          </a:p>
          <a:p>
            <a:pPr marL="0" lvl="0" indent="0" eaLnBrk="0" fontAlgn="base" hangingPunct="0">
              <a:lnSpc>
                <a:spcPct val="100000"/>
              </a:lnSpc>
              <a:spcBef>
                <a:spcPct val="0"/>
              </a:spcBef>
              <a:spcAft>
                <a:spcPct val="0"/>
              </a:spcAft>
              <a:buClrTx/>
              <a:buSzTx/>
            </a:pPr>
            <a:r>
              <a:rPr lang="en-US" altLang="en-US" sz="2400" b="1" dirty="0">
                <a:latin typeface="Arial" panose="020B0604020202020204" pitchFamily="34" charset="0"/>
              </a:rPr>
              <a:t>3.Data Sources</a:t>
            </a:r>
            <a:r>
              <a:rPr lang="en-US" altLang="en-US" sz="2400" dirty="0">
                <a:latin typeface="Arial" panose="020B0604020202020204" pitchFamily="34" charset="0"/>
              </a:rPr>
              <a:t>: Patient records, appointments, treatments, billing, and doctor performance metrics are analyzed. </a:t>
            </a:r>
          </a:p>
          <a:p>
            <a:pPr marL="0" lvl="0" indent="0" eaLnBrk="0" fontAlgn="base" hangingPunct="0">
              <a:lnSpc>
                <a:spcPct val="100000"/>
              </a:lnSpc>
              <a:spcBef>
                <a:spcPct val="0"/>
              </a:spcBef>
              <a:spcAft>
                <a:spcPct val="0"/>
              </a:spcAft>
              <a:buClrTx/>
              <a:buSzTx/>
            </a:pPr>
            <a:r>
              <a:rPr lang="en-US" altLang="en-US" sz="2400" b="1" dirty="0">
                <a:latin typeface="Arial" panose="020B0604020202020204" pitchFamily="34" charset="0"/>
              </a:rPr>
              <a:t>4.KPIs Measured</a:t>
            </a:r>
            <a:r>
              <a:rPr lang="en-US" altLang="en-US" sz="2400" dirty="0">
                <a:latin typeface="Arial" panose="020B0604020202020204" pitchFamily="34" charset="0"/>
              </a:rPr>
              <a:t>: Average waiting time, readmission rate, bed occupancy, revenue per department, and doctor utilization rate. </a:t>
            </a:r>
          </a:p>
          <a:p>
            <a:pPr marL="0" lvl="0" indent="0" eaLnBrk="0" fontAlgn="base" hangingPunct="0">
              <a:lnSpc>
                <a:spcPct val="100000"/>
              </a:lnSpc>
              <a:spcBef>
                <a:spcPct val="0"/>
              </a:spcBef>
              <a:spcAft>
                <a:spcPct val="0"/>
              </a:spcAft>
              <a:buClrTx/>
              <a:buSzTx/>
            </a:pPr>
            <a:r>
              <a:rPr lang="en-US" altLang="en-US" sz="2400" b="1" dirty="0">
                <a:latin typeface="Arial" panose="020B0604020202020204" pitchFamily="34" charset="0"/>
              </a:rPr>
              <a:t>5.Tools &amp; Outcomes</a:t>
            </a:r>
            <a:r>
              <a:rPr lang="en-US" altLang="en-US" sz="2400" dirty="0">
                <a:latin typeface="Arial" panose="020B0604020202020204" pitchFamily="34" charset="0"/>
              </a:rPr>
              <a:t>: Python, SQL, and Power BI are used to build dashboards that help administrators optimize resources, reduce waiting times, and improve hospital performance, with potential for predictive modeling in the future. </a:t>
            </a:r>
          </a:p>
          <a:p>
            <a:pPr marL="0" lvl="0" indent="0" eaLnBrk="0" fontAlgn="base" hangingPunct="0">
              <a:lnSpc>
                <a:spcPct val="100000"/>
              </a:lnSpc>
              <a:spcBef>
                <a:spcPct val="0"/>
              </a:spcBef>
              <a:spcAft>
                <a:spcPct val="0"/>
              </a:spcAft>
              <a:buClrTx/>
              <a:buSzTx/>
              <a:buFontTx/>
              <a:buAutoNum type="arabicPeriod" startAt="4"/>
            </a:pP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ClrTx/>
              <a:buSzTx/>
              <a:buFontTx/>
              <a:buAutoNum type="arabicPeriod" startAt="4"/>
            </a:pPr>
            <a:endParaRPr lang="en-US" altLang="en-US" sz="2400" dirty="0">
              <a:latin typeface="Arial" panose="020B0604020202020204" pitchFamily="34" charset="0"/>
            </a:endParaRPr>
          </a:p>
          <a:p>
            <a:pPr marL="0" lvl="0" indent="0" eaLnBrk="0" fontAlgn="base" hangingPunct="0">
              <a:lnSpc>
                <a:spcPct val="100000"/>
              </a:lnSpc>
              <a:spcBef>
                <a:spcPct val="0"/>
              </a:spcBef>
              <a:spcAft>
                <a:spcPct val="0"/>
              </a:spcAft>
              <a:buClrTx/>
              <a:buSzTx/>
            </a:pPr>
            <a:r>
              <a:rPr lang="en-US" altLang="en-US" sz="2800" b="1" u="sng" dirty="0">
                <a:latin typeface="Arial Black" panose="020B0A04020102020204" pitchFamily="34" charset="0"/>
              </a:rPr>
              <a:t>Improvements:</a:t>
            </a:r>
          </a:p>
          <a:p>
            <a:r>
              <a:rPr lang="en-US" dirty="0"/>
              <a:t>• Operational efficiency</a:t>
            </a:r>
          </a:p>
          <a:p>
            <a:r>
              <a:rPr lang="en-US" dirty="0"/>
              <a:t> • Patient care</a:t>
            </a:r>
          </a:p>
          <a:p>
            <a:r>
              <a:rPr lang="en-US" dirty="0"/>
              <a:t> • Revenue tracking</a:t>
            </a:r>
          </a:p>
          <a:p>
            <a:r>
              <a:rPr lang="en-US" dirty="0"/>
              <a:t> • Doctor performance</a:t>
            </a:r>
            <a:endParaRPr lang="en-IN" dirty="0"/>
          </a:p>
          <a:p>
            <a:endParaRPr lang="en-IN" dirty="0"/>
          </a:p>
        </p:txBody>
      </p:sp>
    </p:spTree>
    <p:extLst>
      <p:ext uri="{BB962C8B-B14F-4D97-AF65-F5344CB8AC3E}">
        <p14:creationId xmlns:p14="http://schemas.microsoft.com/office/powerpoint/2010/main" val="2479067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8186B1-1653-3208-D8B3-9CD91BE327B2}"/>
              </a:ext>
            </a:extLst>
          </p:cNvPr>
          <p:cNvSpPr txBox="1"/>
          <p:nvPr/>
        </p:nvSpPr>
        <p:spPr>
          <a:xfrm>
            <a:off x="1673352" y="649224"/>
            <a:ext cx="4956048" cy="646331"/>
          </a:xfrm>
          <a:prstGeom prst="rect">
            <a:avLst/>
          </a:prstGeom>
          <a:noFill/>
        </p:spPr>
        <p:txBody>
          <a:bodyPr wrap="square" rtlCol="0">
            <a:spAutoFit/>
          </a:bodyPr>
          <a:lstStyle/>
          <a:p>
            <a:r>
              <a:rPr lang="en-IN" sz="3600" b="1" dirty="0">
                <a:solidFill>
                  <a:srgbClr val="C00000"/>
                </a:solidFill>
              </a:rPr>
              <a:t>Introduction:</a:t>
            </a:r>
          </a:p>
        </p:txBody>
      </p:sp>
      <p:sp>
        <p:nvSpPr>
          <p:cNvPr id="4" name="TextBox 3">
            <a:extLst>
              <a:ext uri="{FF2B5EF4-FFF2-40B4-BE49-F238E27FC236}">
                <a16:creationId xmlns:a16="http://schemas.microsoft.com/office/drawing/2014/main" id="{DB45612D-803A-D5F3-DDCB-3E38D11286BD}"/>
              </a:ext>
            </a:extLst>
          </p:cNvPr>
          <p:cNvSpPr txBox="1"/>
          <p:nvPr/>
        </p:nvSpPr>
        <p:spPr>
          <a:xfrm>
            <a:off x="1673352" y="1763768"/>
            <a:ext cx="9957816" cy="4524315"/>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285750" indent="-285750">
              <a:buFont typeface="Arial" panose="020B0604020202020204" pitchFamily="34" charset="0"/>
              <a:buChar char="•"/>
            </a:pPr>
            <a:r>
              <a:rPr lang="en-US" dirty="0"/>
              <a:t>The </a:t>
            </a:r>
            <a:r>
              <a:rPr lang="en-US" b="1" dirty="0"/>
              <a:t>Hospital Performance &amp; Patient Analytics System</a:t>
            </a:r>
            <a:r>
              <a:rPr lang="en-US" dirty="0"/>
              <a:t> is a data analytics platform designed to analyze hospital operations and patient-related data to improve healthcare management. Hospitals generate a large amount of data such as patient records, doctor performance, treatment details, and hospital resource usage. Analyzing this data manually is difficult and time-consuming.</a:t>
            </a:r>
          </a:p>
          <a:p>
            <a:endParaRPr lang="en-US" dirty="0"/>
          </a:p>
          <a:p>
            <a:pPr marL="285750" indent="-285750">
              <a:buFont typeface="Arial" panose="020B0604020202020204" pitchFamily="34" charset="0"/>
              <a:buChar char="•"/>
            </a:pPr>
            <a:r>
              <a:rPr lang="en-US" dirty="0"/>
              <a:t>This system uses </a:t>
            </a:r>
            <a:r>
              <a:rPr lang="en-US" b="1" dirty="0"/>
              <a:t>Python-based data analytics techniques</a:t>
            </a:r>
            <a:r>
              <a:rPr lang="en-US" dirty="0"/>
              <a:t> to process hospital data and generate meaningful insights. The system allows administrators to monitor hospital performance through visual dashboards and reports. It helps identify trends such as patient admission rates, doctor performance, treatment outcomes, and department efficiency.</a:t>
            </a:r>
          </a:p>
          <a:p>
            <a:endParaRPr lang="en-US" dirty="0"/>
          </a:p>
          <a:p>
            <a:pPr marL="285750" indent="-285750">
              <a:buFont typeface="Arial" panose="020B0604020202020204" pitchFamily="34" charset="0"/>
              <a:buChar char="•"/>
            </a:pPr>
            <a:r>
              <a:rPr lang="en-US" dirty="0"/>
              <a:t>The frontend interface provides a user-friendly dashboard where hospital administrators can view charts, graphs, and reports generated from the analyzed data. This helps hospital management make better decisions to improve patient care and operational efficiency.</a:t>
            </a:r>
          </a:p>
        </p:txBody>
      </p:sp>
    </p:spTree>
    <p:extLst>
      <p:ext uri="{BB962C8B-B14F-4D97-AF65-F5344CB8AC3E}">
        <p14:creationId xmlns:p14="http://schemas.microsoft.com/office/powerpoint/2010/main" val="1140232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3C8FC-DE7F-4D7C-46CC-9B1D806E14C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B6D5BE-4332-9EAF-A9AA-60EC8EFD46FA}"/>
              </a:ext>
            </a:extLst>
          </p:cNvPr>
          <p:cNvSpPr txBox="1"/>
          <p:nvPr/>
        </p:nvSpPr>
        <p:spPr>
          <a:xfrm>
            <a:off x="1673352" y="649224"/>
            <a:ext cx="4956048" cy="646331"/>
          </a:xfrm>
          <a:prstGeom prst="rect">
            <a:avLst/>
          </a:prstGeom>
          <a:noFill/>
        </p:spPr>
        <p:txBody>
          <a:bodyPr wrap="square" rtlCol="0">
            <a:spAutoFit/>
          </a:bodyPr>
          <a:lstStyle/>
          <a:p>
            <a:r>
              <a:rPr lang="en-IN" sz="3600" b="1" dirty="0">
                <a:solidFill>
                  <a:srgbClr val="C00000"/>
                </a:solidFill>
              </a:rPr>
              <a:t>Objective:</a:t>
            </a:r>
          </a:p>
        </p:txBody>
      </p:sp>
      <p:sp>
        <p:nvSpPr>
          <p:cNvPr id="4" name="TextBox 3">
            <a:extLst>
              <a:ext uri="{FF2B5EF4-FFF2-40B4-BE49-F238E27FC236}">
                <a16:creationId xmlns:a16="http://schemas.microsoft.com/office/drawing/2014/main" id="{7A1303E4-DC17-075A-0BD9-B5F5AA49BB71}"/>
              </a:ext>
            </a:extLst>
          </p:cNvPr>
          <p:cNvSpPr txBox="1"/>
          <p:nvPr/>
        </p:nvSpPr>
        <p:spPr>
          <a:xfrm>
            <a:off x="1673352" y="1763768"/>
            <a:ext cx="9957816" cy="333014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lvl="0" defTabSz="914400" eaLnBrk="0" fontAlgn="base" hangingPunct="0">
              <a:lnSpc>
                <a:spcPct val="200000"/>
              </a:lnSpc>
              <a:spcBef>
                <a:spcPct val="0"/>
              </a:spcBef>
              <a:spcAft>
                <a:spcPct val="0"/>
              </a:spcAft>
              <a:buFontTx/>
              <a:buChar char="•"/>
            </a:pPr>
            <a:r>
              <a:rPr lang="en-US" altLang="en-US" dirty="0">
                <a:solidFill>
                  <a:schemeClr val="tx1"/>
                </a:solidFill>
                <a:latin typeface="Arial" panose="020B0604020202020204" pitchFamily="34" charset="0"/>
              </a:rPr>
              <a:t>To analyze hospital and patient data using </a:t>
            </a:r>
            <a:r>
              <a:rPr lang="en-US" altLang="en-US" b="1" dirty="0">
                <a:solidFill>
                  <a:schemeClr val="tx1"/>
                </a:solidFill>
                <a:latin typeface="Arial" panose="020B0604020202020204" pitchFamily="34" charset="0"/>
              </a:rPr>
              <a:t>Python data analytics tools</a:t>
            </a:r>
            <a:r>
              <a:rPr lang="en-US" altLang="en-US" dirty="0">
                <a:solidFill>
                  <a:schemeClr val="tx1"/>
                </a:solidFill>
                <a:latin typeface="Arial" panose="020B0604020202020204" pitchFamily="34" charset="0"/>
              </a:rPr>
              <a:t>.</a:t>
            </a:r>
          </a:p>
          <a:p>
            <a:pPr lvl="0" defTabSz="914400" eaLnBrk="0" fontAlgn="base" hangingPunct="0">
              <a:lnSpc>
                <a:spcPct val="200000"/>
              </a:lnSpc>
              <a:spcBef>
                <a:spcPct val="0"/>
              </a:spcBef>
              <a:spcAft>
                <a:spcPct val="0"/>
              </a:spcAft>
              <a:buFontTx/>
              <a:buChar char="•"/>
            </a:pPr>
            <a:r>
              <a:rPr lang="en-US" altLang="en-US" dirty="0">
                <a:solidFill>
                  <a:schemeClr val="tx1"/>
                </a:solidFill>
                <a:latin typeface="Arial" panose="020B0604020202020204" pitchFamily="34" charset="0"/>
              </a:rPr>
              <a:t>To create visual dashboards for monitoring hospital performance.</a:t>
            </a:r>
          </a:p>
          <a:p>
            <a:pPr lvl="0" defTabSz="914400" eaLnBrk="0" fontAlgn="base" hangingPunct="0">
              <a:lnSpc>
                <a:spcPct val="200000"/>
              </a:lnSpc>
              <a:spcBef>
                <a:spcPct val="0"/>
              </a:spcBef>
              <a:spcAft>
                <a:spcPct val="0"/>
              </a:spcAft>
              <a:buFontTx/>
              <a:buChar char="•"/>
            </a:pPr>
            <a:r>
              <a:rPr lang="en-US" altLang="en-US" dirty="0">
                <a:solidFill>
                  <a:schemeClr val="tx1"/>
                </a:solidFill>
                <a:latin typeface="Arial" panose="020B0604020202020204" pitchFamily="34" charset="0"/>
              </a:rPr>
              <a:t>To track patient admission trends and treatment statistics.</a:t>
            </a:r>
          </a:p>
          <a:p>
            <a:pPr lvl="0" defTabSz="914400" eaLnBrk="0" fontAlgn="base" hangingPunct="0">
              <a:lnSpc>
                <a:spcPct val="200000"/>
              </a:lnSpc>
              <a:spcBef>
                <a:spcPct val="0"/>
              </a:spcBef>
              <a:spcAft>
                <a:spcPct val="0"/>
              </a:spcAft>
              <a:buFontTx/>
              <a:buChar char="•"/>
            </a:pPr>
            <a:r>
              <a:rPr lang="en-US" altLang="en-US" dirty="0">
                <a:solidFill>
                  <a:schemeClr val="tx1"/>
                </a:solidFill>
                <a:latin typeface="Arial" panose="020B0604020202020204" pitchFamily="34" charset="0"/>
              </a:rPr>
              <a:t>To evaluate doctor and department performance.</a:t>
            </a:r>
          </a:p>
          <a:p>
            <a:pPr lvl="0" defTabSz="914400" eaLnBrk="0" fontAlgn="base" hangingPunct="0">
              <a:lnSpc>
                <a:spcPct val="200000"/>
              </a:lnSpc>
              <a:spcBef>
                <a:spcPct val="0"/>
              </a:spcBef>
              <a:spcAft>
                <a:spcPct val="0"/>
              </a:spcAft>
              <a:buFontTx/>
              <a:buChar char="•"/>
            </a:pPr>
            <a:r>
              <a:rPr lang="en-US" altLang="en-US" dirty="0">
                <a:solidFill>
                  <a:schemeClr val="tx1"/>
                </a:solidFill>
                <a:latin typeface="Arial" panose="020B0604020202020204" pitchFamily="34" charset="0"/>
              </a:rPr>
              <a:t>To help hospital administrators make </a:t>
            </a:r>
            <a:r>
              <a:rPr lang="en-US" altLang="en-US" b="1" dirty="0">
                <a:solidFill>
                  <a:schemeClr val="tx1"/>
                </a:solidFill>
                <a:latin typeface="Arial" panose="020B0604020202020204" pitchFamily="34" charset="0"/>
              </a:rPr>
              <a:t>data-driven decisions</a:t>
            </a:r>
            <a:r>
              <a:rPr lang="en-US" altLang="en-US" dirty="0">
                <a:solidFill>
                  <a:schemeClr val="tx1"/>
                </a:solidFill>
                <a:latin typeface="Arial" panose="020B0604020202020204" pitchFamily="34" charset="0"/>
              </a:rPr>
              <a:t>.</a:t>
            </a:r>
          </a:p>
          <a:p>
            <a:pPr lvl="0" defTabSz="914400" eaLnBrk="0" fontAlgn="base" hangingPunct="0">
              <a:lnSpc>
                <a:spcPct val="200000"/>
              </a:lnSpc>
              <a:spcBef>
                <a:spcPct val="0"/>
              </a:spcBef>
              <a:spcAft>
                <a:spcPct val="0"/>
              </a:spcAft>
              <a:buFontTx/>
              <a:buChar char="•"/>
            </a:pPr>
            <a:r>
              <a:rPr lang="en-US" altLang="en-US" dirty="0">
                <a:solidFill>
                  <a:schemeClr val="tx1"/>
                </a:solidFill>
                <a:latin typeface="Arial" panose="020B0604020202020204" pitchFamily="34" charset="0"/>
              </a:rPr>
              <a:t>To present complex healthcare data in an easy-to-understand visual format</a:t>
            </a:r>
            <a:r>
              <a:rPr lang="en-US" dirty="0"/>
              <a:t>.</a:t>
            </a:r>
          </a:p>
        </p:txBody>
      </p:sp>
    </p:spTree>
    <p:extLst>
      <p:ext uri="{BB962C8B-B14F-4D97-AF65-F5344CB8AC3E}">
        <p14:creationId xmlns:p14="http://schemas.microsoft.com/office/powerpoint/2010/main" val="841786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8FA232-CAD6-D4E6-4F39-170A53F0B7E1}"/>
              </a:ext>
            </a:extLst>
          </p:cNvPr>
          <p:cNvSpPr txBox="1"/>
          <p:nvPr/>
        </p:nvSpPr>
        <p:spPr>
          <a:xfrm>
            <a:off x="1636776" y="658368"/>
            <a:ext cx="4562856" cy="584775"/>
          </a:xfrm>
          <a:prstGeom prst="rect">
            <a:avLst/>
          </a:prstGeom>
          <a:noFill/>
        </p:spPr>
        <p:txBody>
          <a:bodyPr wrap="square" rtlCol="0">
            <a:spAutoFit/>
          </a:bodyPr>
          <a:lstStyle/>
          <a:p>
            <a:r>
              <a:rPr lang="en-IN" sz="3200" b="1" dirty="0">
                <a:solidFill>
                  <a:srgbClr val="FF0000"/>
                </a:solidFill>
              </a:rPr>
              <a:t>Dataset overview :</a:t>
            </a:r>
          </a:p>
        </p:txBody>
      </p:sp>
      <p:sp>
        <p:nvSpPr>
          <p:cNvPr id="3" name="TextBox 2">
            <a:extLst>
              <a:ext uri="{FF2B5EF4-FFF2-40B4-BE49-F238E27FC236}">
                <a16:creationId xmlns:a16="http://schemas.microsoft.com/office/drawing/2014/main" id="{C562814B-400C-F5DC-A051-5C81393BC5B2}"/>
              </a:ext>
            </a:extLst>
          </p:cNvPr>
          <p:cNvSpPr txBox="1"/>
          <p:nvPr/>
        </p:nvSpPr>
        <p:spPr>
          <a:xfrm>
            <a:off x="950976" y="2136338"/>
            <a:ext cx="11119104" cy="2585323"/>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50000"/>
              </a:lnSpc>
            </a:pPr>
            <a:r>
              <a:rPr lang="en-IN" sz="3200" dirty="0"/>
              <a:t>• Raw dataset: </a:t>
            </a:r>
            <a:r>
              <a:rPr lang="en-IN" sz="3200" dirty="0">
                <a:solidFill>
                  <a:schemeClr val="accent1"/>
                </a:solidFill>
                <a:hlinkClick r:id="rId2" action="ppaction://hlinkfile">
                  <a:extLst>
                    <a:ext uri="{A12FA001-AC4F-418D-AE19-62706E023703}">
                      <ahyp:hlinkClr xmlns:ahyp="http://schemas.microsoft.com/office/drawing/2018/hyperlinkcolor" val="tx"/>
                    </a:ext>
                  </a:extLst>
                </a:hlinkClick>
              </a:rPr>
              <a:t>Hospitaldata.csv</a:t>
            </a:r>
            <a:endParaRPr lang="en-IN" sz="3200" dirty="0">
              <a:solidFill>
                <a:schemeClr val="accent1"/>
              </a:solidFill>
            </a:endParaRPr>
          </a:p>
          <a:p>
            <a:pPr>
              <a:lnSpc>
                <a:spcPct val="150000"/>
              </a:lnSpc>
            </a:pPr>
            <a:r>
              <a:rPr lang="en-IN" sz="3200" dirty="0"/>
              <a:t>• Cleaned dataset: </a:t>
            </a:r>
            <a:r>
              <a:rPr lang="en-IN" sz="3200" dirty="0">
                <a:solidFill>
                  <a:schemeClr val="accent6">
                    <a:lumMod val="75000"/>
                  </a:schemeClr>
                </a:solidFill>
                <a:hlinkClick r:id="rId3" action="ppaction://hlinkfile"/>
              </a:rPr>
              <a:t>Final_Cleaned_Hospital_Data.csv</a:t>
            </a:r>
            <a:endParaRPr lang="en-IN" sz="3200" dirty="0">
              <a:solidFill>
                <a:schemeClr val="accent6">
                  <a:lumMod val="75000"/>
                </a:schemeClr>
              </a:solidFill>
            </a:endParaRPr>
          </a:p>
          <a:p>
            <a:pPr>
              <a:lnSpc>
                <a:spcPct val="150000"/>
              </a:lnSpc>
            </a:pPr>
            <a:r>
              <a:rPr lang="en-IN" sz="3200" dirty="0"/>
              <a:t>• Data cleaning done using </a:t>
            </a:r>
            <a:r>
              <a:rPr lang="en-IN" sz="3200" b="1" dirty="0">
                <a:solidFill>
                  <a:srgbClr val="000099"/>
                </a:solidFill>
              </a:rPr>
              <a:t>Pandas</a:t>
            </a:r>
          </a:p>
          <a:p>
            <a:endParaRPr lang="en-IN" dirty="0"/>
          </a:p>
        </p:txBody>
      </p:sp>
    </p:spTree>
    <p:extLst>
      <p:ext uri="{BB962C8B-B14F-4D97-AF65-F5344CB8AC3E}">
        <p14:creationId xmlns:p14="http://schemas.microsoft.com/office/powerpoint/2010/main" val="1681107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F8A72B-0660-E773-DDA1-D81D94C1FED3}"/>
              </a:ext>
            </a:extLst>
          </p:cNvPr>
          <p:cNvSpPr txBox="1"/>
          <p:nvPr/>
        </p:nvSpPr>
        <p:spPr>
          <a:xfrm>
            <a:off x="1751076" y="585216"/>
            <a:ext cx="5193792" cy="707886"/>
          </a:xfrm>
          <a:prstGeom prst="rect">
            <a:avLst/>
          </a:prstGeom>
          <a:noFill/>
        </p:spPr>
        <p:txBody>
          <a:bodyPr wrap="square" rtlCol="0">
            <a:spAutoFit/>
          </a:bodyPr>
          <a:lstStyle/>
          <a:p>
            <a:r>
              <a:rPr lang="en-IN" sz="4000" b="1" dirty="0">
                <a:solidFill>
                  <a:schemeClr val="accent1"/>
                </a:solidFill>
              </a:rPr>
              <a:t>DATA CLEANING</a:t>
            </a:r>
          </a:p>
        </p:txBody>
      </p:sp>
      <p:sp>
        <p:nvSpPr>
          <p:cNvPr id="3" name="TextBox 2">
            <a:extLst>
              <a:ext uri="{FF2B5EF4-FFF2-40B4-BE49-F238E27FC236}">
                <a16:creationId xmlns:a16="http://schemas.microsoft.com/office/drawing/2014/main" id="{B67145F8-D72C-28BB-6F76-6DD9109E6906}"/>
              </a:ext>
            </a:extLst>
          </p:cNvPr>
          <p:cNvSpPr txBox="1"/>
          <p:nvPr/>
        </p:nvSpPr>
        <p:spPr>
          <a:xfrm>
            <a:off x="1751076" y="2551837"/>
            <a:ext cx="8860536" cy="1754326"/>
          </a:xfrm>
          <a:prstGeom prst="rect">
            <a:avLst/>
          </a:prstGeom>
          <a:scene3d>
            <a:camera prst="orthographicFront"/>
            <a:lightRig rig="threePt" dir="t"/>
          </a:scene3d>
          <a:sp3d>
            <a:bevelT w="165100" prst="coolSlant"/>
          </a:sp3d>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sz="3600" b="1" dirty="0"/>
              <a:t>Before analysis, data was cleaned using </a:t>
            </a:r>
            <a:r>
              <a:rPr lang="en-US" sz="3600" b="1" dirty="0">
                <a:solidFill>
                  <a:srgbClr val="000099"/>
                </a:solidFill>
              </a:rPr>
              <a:t>Pyt</a:t>
            </a:r>
            <a:r>
              <a:rPr lang="en-US" sz="3600" b="1" dirty="0">
                <a:solidFill>
                  <a:srgbClr val="FFFF66"/>
                </a:solidFill>
              </a:rPr>
              <a:t>hon</a:t>
            </a:r>
            <a:r>
              <a:rPr lang="en-US" sz="3600" b="1" dirty="0">
                <a:solidFill>
                  <a:schemeClr val="tx1"/>
                </a:solidFill>
              </a:rPr>
              <a:t>(</a:t>
            </a:r>
            <a:r>
              <a:rPr lang="en-US" sz="3600" b="1" i="1" dirty="0">
                <a:solidFill>
                  <a:srgbClr val="0070C0"/>
                </a:solidFill>
              </a:rPr>
              <a:t>Pandas</a:t>
            </a:r>
            <a:r>
              <a:rPr lang="en-US" sz="3600" b="1" i="1" dirty="0">
                <a:solidFill>
                  <a:schemeClr val="tx1"/>
                </a:solidFill>
              </a:rPr>
              <a:t> library</a:t>
            </a:r>
            <a:r>
              <a:rPr lang="en-US" sz="3600" b="1" dirty="0">
                <a:solidFill>
                  <a:schemeClr val="tx1"/>
                </a:solidFill>
              </a:rPr>
              <a:t>) </a:t>
            </a:r>
            <a:r>
              <a:rPr lang="en-US" sz="3600" b="1" dirty="0"/>
              <a:t>to ensure accuracy, consistency, and usability.</a:t>
            </a:r>
            <a:endParaRPr lang="en-IN" sz="3600" b="1" dirty="0"/>
          </a:p>
        </p:txBody>
      </p:sp>
    </p:spTree>
    <p:extLst>
      <p:ext uri="{BB962C8B-B14F-4D97-AF65-F5344CB8AC3E}">
        <p14:creationId xmlns:p14="http://schemas.microsoft.com/office/powerpoint/2010/main" val="1229203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7F9346-5434-5179-3F59-9899E3E137F1}"/>
              </a:ext>
            </a:extLst>
          </p:cNvPr>
          <p:cNvSpPr txBox="1"/>
          <p:nvPr/>
        </p:nvSpPr>
        <p:spPr>
          <a:xfrm>
            <a:off x="1730502" y="661154"/>
            <a:ext cx="6910578" cy="584775"/>
          </a:xfrm>
          <a:prstGeom prst="rect">
            <a:avLst/>
          </a:prstGeom>
          <a:noFill/>
        </p:spPr>
        <p:txBody>
          <a:bodyPr wrap="square">
            <a:spAutoFit/>
          </a:bodyPr>
          <a:lstStyle/>
          <a:p>
            <a:r>
              <a:rPr lang="en-IN" sz="3200" b="1" dirty="0">
                <a:solidFill>
                  <a:schemeClr val="accent1"/>
                </a:solidFill>
              </a:rPr>
              <a:t>DATA CLEANING : </a:t>
            </a:r>
            <a:r>
              <a:rPr lang="en-IN" sz="3200" b="1" dirty="0">
                <a:solidFill>
                  <a:srgbClr val="002060"/>
                </a:solidFill>
              </a:rPr>
              <a:t>Missing Values</a:t>
            </a:r>
          </a:p>
        </p:txBody>
      </p:sp>
      <p:pic>
        <p:nvPicPr>
          <p:cNvPr id="5" name="Picture 4">
            <a:extLst>
              <a:ext uri="{FF2B5EF4-FFF2-40B4-BE49-F238E27FC236}">
                <a16:creationId xmlns:a16="http://schemas.microsoft.com/office/drawing/2014/main" id="{C313E46F-7D91-A74B-704F-557B8D6CE1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287" y="1551080"/>
            <a:ext cx="5098105" cy="3041257"/>
          </a:xfrm>
          <a:prstGeom prst="rect">
            <a:avLst/>
          </a:prstGeom>
        </p:spPr>
      </p:pic>
      <p:pic>
        <p:nvPicPr>
          <p:cNvPr id="7" name="Picture 6">
            <a:extLst>
              <a:ext uri="{FF2B5EF4-FFF2-40B4-BE49-F238E27FC236}">
                <a16:creationId xmlns:a16="http://schemas.microsoft.com/office/drawing/2014/main" id="{6B0F18B5-4167-E97E-D353-FACE0B2033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3288" y="1551080"/>
            <a:ext cx="6353881" cy="3041257"/>
          </a:xfrm>
          <a:prstGeom prst="rect">
            <a:avLst/>
          </a:prstGeom>
        </p:spPr>
      </p:pic>
      <p:sp>
        <p:nvSpPr>
          <p:cNvPr id="8" name="TextBox 7">
            <a:extLst>
              <a:ext uri="{FF2B5EF4-FFF2-40B4-BE49-F238E27FC236}">
                <a16:creationId xmlns:a16="http://schemas.microsoft.com/office/drawing/2014/main" id="{4342011B-729C-BE27-3F26-A1F81DEA553E}"/>
              </a:ext>
            </a:extLst>
          </p:cNvPr>
          <p:cNvSpPr txBox="1"/>
          <p:nvPr/>
        </p:nvSpPr>
        <p:spPr>
          <a:xfrm>
            <a:off x="1400556" y="4897488"/>
            <a:ext cx="9390888" cy="1303049"/>
          </a:xfrm>
          <a:prstGeom prst="rect">
            <a:avLst/>
          </a:prstGeom>
          <a:noFill/>
        </p:spPr>
        <p:txBody>
          <a:bodyPr wrap="square" rtlCol="0">
            <a:spAutoFit/>
          </a:bodyPr>
          <a:lstStyle/>
          <a:p>
            <a:pPr>
              <a:lnSpc>
                <a:spcPct val="150000"/>
              </a:lnSpc>
            </a:pPr>
            <a:r>
              <a:rPr lang="en-US" sz="2800" b="1" dirty="0"/>
              <a:t>• Identified missing values (NULL, NA, blanks)</a:t>
            </a:r>
            <a:br>
              <a:rPr lang="en-US" sz="2800" b="1" dirty="0"/>
            </a:br>
            <a:r>
              <a:rPr lang="en-US" sz="2800" b="1" dirty="0"/>
              <a:t>• Handled them using appropriate techniques</a:t>
            </a:r>
            <a:endParaRPr lang="en-IN" sz="2800" b="1" dirty="0"/>
          </a:p>
        </p:txBody>
      </p:sp>
    </p:spTree>
    <p:extLst>
      <p:ext uri="{BB962C8B-B14F-4D97-AF65-F5344CB8AC3E}">
        <p14:creationId xmlns:p14="http://schemas.microsoft.com/office/powerpoint/2010/main" val="1898514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899279-366D-0380-C7B3-990E4788BC9C}"/>
              </a:ext>
            </a:extLst>
          </p:cNvPr>
          <p:cNvSpPr txBox="1"/>
          <p:nvPr/>
        </p:nvSpPr>
        <p:spPr>
          <a:xfrm>
            <a:off x="1575054" y="636175"/>
            <a:ext cx="6094476" cy="584775"/>
          </a:xfrm>
          <a:prstGeom prst="rect">
            <a:avLst/>
          </a:prstGeom>
          <a:noFill/>
        </p:spPr>
        <p:txBody>
          <a:bodyPr wrap="square">
            <a:spAutoFit/>
          </a:bodyPr>
          <a:lstStyle/>
          <a:p>
            <a:r>
              <a:rPr lang="en-IN" sz="3200" b="1" dirty="0">
                <a:solidFill>
                  <a:schemeClr val="accent1"/>
                </a:solidFill>
              </a:rPr>
              <a:t>DATA CLEANING : </a:t>
            </a:r>
            <a:r>
              <a:rPr lang="en-IN" sz="3200" b="1" dirty="0">
                <a:solidFill>
                  <a:srgbClr val="002060"/>
                </a:solidFill>
              </a:rPr>
              <a:t>Data Types</a:t>
            </a:r>
          </a:p>
        </p:txBody>
      </p:sp>
      <p:pic>
        <p:nvPicPr>
          <p:cNvPr id="5" name="Picture 4">
            <a:extLst>
              <a:ext uri="{FF2B5EF4-FFF2-40B4-BE49-F238E27FC236}">
                <a16:creationId xmlns:a16="http://schemas.microsoft.com/office/drawing/2014/main" id="{4904E59A-3A11-E631-9574-37397CB6BF28}"/>
              </a:ext>
            </a:extLst>
          </p:cNvPr>
          <p:cNvPicPr>
            <a:picLocks noChangeAspect="1"/>
          </p:cNvPicPr>
          <p:nvPr/>
        </p:nvPicPr>
        <p:blipFill>
          <a:blip r:embed="rId2">
            <a:extLst>
              <a:ext uri="{28A0092B-C50C-407E-A947-70E740481C1C}">
                <a14:useLocalDpi xmlns:a14="http://schemas.microsoft.com/office/drawing/2010/main" val="0"/>
              </a:ext>
            </a:extLst>
          </a:blip>
          <a:srcRect l="1035" t="32994" r="38907"/>
          <a:stretch>
            <a:fillRect/>
          </a:stretch>
        </p:blipFill>
        <p:spPr>
          <a:xfrm>
            <a:off x="356616" y="1523903"/>
            <a:ext cx="6437376" cy="3030365"/>
          </a:xfrm>
          <a:prstGeom prst="rect">
            <a:avLst/>
          </a:prstGeom>
        </p:spPr>
      </p:pic>
      <p:sp>
        <p:nvSpPr>
          <p:cNvPr id="6" name="TextBox 5">
            <a:extLst>
              <a:ext uri="{FF2B5EF4-FFF2-40B4-BE49-F238E27FC236}">
                <a16:creationId xmlns:a16="http://schemas.microsoft.com/office/drawing/2014/main" id="{5451D098-5B5C-78A5-D953-AE455E06DC86}"/>
              </a:ext>
            </a:extLst>
          </p:cNvPr>
          <p:cNvSpPr txBox="1"/>
          <p:nvPr/>
        </p:nvSpPr>
        <p:spPr>
          <a:xfrm>
            <a:off x="1207008" y="4857221"/>
            <a:ext cx="9043416" cy="1303049"/>
          </a:xfrm>
          <a:prstGeom prst="rect">
            <a:avLst/>
          </a:prstGeom>
          <a:noFill/>
        </p:spPr>
        <p:txBody>
          <a:bodyPr wrap="square" rtlCol="0">
            <a:spAutoFit/>
          </a:bodyPr>
          <a:lstStyle/>
          <a:p>
            <a:pPr>
              <a:lnSpc>
                <a:spcPct val="150000"/>
              </a:lnSpc>
            </a:pPr>
            <a:r>
              <a:rPr lang="en-US" sz="2800" b="1" dirty="0"/>
              <a:t>• Converted columns into correct data types</a:t>
            </a:r>
            <a:br>
              <a:rPr lang="en-US" sz="2800" b="1" dirty="0"/>
            </a:br>
            <a:r>
              <a:rPr lang="en-US" sz="2800" b="1" dirty="0"/>
              <a:t>• Ensured numerical and date fields were usable</a:t>
            </a:r>
            <a:endParaRPr lang="en-IN" sz="2800" b="1" dirty="0"/>
          </a:p>
        </p:txBody>
      </p:sp>
      <p:pic>
        <p:nvPicPr>
          <p:cNvPr id="8" name="Picture 7">
            <a:extLst>
              <a:ext uri="{FF2B5EF4-FFF2-40B4-BE49-F238E27FC236}">
                <a16:creationId xmlns:a16="http://schemas.microsoft.com/office/drawing/2014/main" id="{CB47F9BD-2BC9-29D5-86BA-324B9DFFF3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0776" y="1523903"/>
            <a:ext cx="5064669" cy="3030365"/>
          </a:xfrm>
          <a:prstGeom prst="rect">
            <a:avLst/>
          </a:prstGeom>
        </p:spPr>
      </p:pic>
    </p:spTree>
    <p:extLst>
      <p:ext uri="{BB962C8B-B14F-4D97-AF65-F5344CB8AC3E}">
        <p14:creationId xmlns:p14="http://schemas.microsoft.com/office/powerpoint/2010/main" val="2380751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DC51CFF-8B93-F0FA-5B79-70B0743D555E}"/>
              </a:ext>
            </a:extLst>
          </p:cNvPr>
          <p:cNvSpPr txBox="1"/>
          <p:nvPr/>
        </p:nvSpPr>
        <p:spPr>
          <a:xfrm>
            <a:off x="1565910" y="663230"/>
            <a:ext cx="7660386" cy="584775"/>
          </a:xfrm>
          <a:prstGeom prst="rect">
            <a:avLst/>
          </a:prstGeom>
          <a:noFill/>
        </p:spPr>
        <p:txBody>
          <a:bodyPr wrap="square">
            <a:spAutoFit/>
          </a:bodyPr>
          <a:lstStyle/>
          <a:p>
            <a:r>
              <a:rPr lang="en-IN" sz="3200" b="1" dirty="0">
                <a:solidFill>
                  <a:schemeClr val="accent1"/>
                </a:solidFill>
              </a:rPr>
              <a:t>DATA CLEANING : </a:t>
            </a:r>
            <a:r>
              <a:rPr lang="en-IN" sz="3200" b="1" dirty="0">
                <a:solidFill>
                  <a:srgbClr val="002060"/>
                </a:solidFill>
              </a:rPr>
              <a:t>Standardization</a:t>
            </a:r>
          </a:p>
        </p:txBody>
      </p:sp>
      <p:pic>
        <p:nvPicPr>
          <p:cNvPr id="10" name="Picture 9">
            <a:extLst>
              <a:ext uri="{FF2B5EF4-FFF2-40B4-BE49-F238E27FC236}">
                <a16:creationId xmlns:a16="http://schemas.microsoft.com/office/drawing/2014/main" id="{A424A70F-E1A2-BAEC-3D01-0426BB61EA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324" y="1512456"/>
            <a:ext cx="5013228" cy="3542140"/>
          </a:xfrm>
          <a:prstGeom prst="rect">
            <a:avLst/>
          </a:prstGeom>
        </p:spPr>
      </p:pic>
      <p:pic>
        <p:nvPicPr>
          <p:cNvPr id="12" name="Picture 11">
            <a:extLst>
              <a:ext uri="{FF2B5EF4-FFF2-40B4-BE49-F238E27FC236}">
                <a16:creationId xmlns:a16="http://schemas.microsoft.com/office/drawing/2014/main" id="{42A44C94-9C81-D4F5-814E-7DF7B2A343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369" y="1512456"/>
            <a:ext cx="3511127" cy="783930"/>
          </a:xfrm>
          <a:prstGeom prst="rect">
            <a:avLst/>
          </a:prstGeom>
        </p:spPr>
      </p:pic>
      <p:pic>
        <p:nvPicPr>
          <p:cNvPr id="14" name="Picture 13">
            <a:extLst>
              <a:ext uri="{FF2B5EF4-FFF2-40B4-BE49-F238E27FC236}">
                <a16:creationId xmlns:a16="http://schemas.microsoft.com/office/drawing/2014/main" id="{81D39DE7-92E2-25C6-A917-BF0CE26693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369" y="2767341"/>
            <a:ext cx="1705213" cy="209579"/>
          </a:xfrm>
          <a:prstGeom prst="rect">
            <a:avLst/>
          </a:prstGeom>
        </p:spPr>
      </p:pic>
      <p:pic>
        <p:nvPicPr>
          <p:cNvPr id="16" name="Picture 15">
            <a:extLst>
              <a:ext uri="{FF2B5EF4-FFF2-40B4-BE49-F238E27FC236}">
                <a16:creationId xmlns:a16="http://schemas.microsoft.com/office/drawing/2014/main" id="{5A8FEDC8-3F6E-1F78-482B-F1C1410A8D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2369" y="4764332"/>
            <a:ext cx="1571844" cy="181000"/>
          </a:xfrm>
          <a:prstGeom prst="rect">
            <a:avLst/>
          </a:prstGeom>
        </p:spPr>
      </p:pic>
      <p:sp>
        <p:nvSpPr>
          <p:cNvPr id="17" name="TextBox 16">
            <a:extLst>
              <a:ext uri="{FF2B5EF4-FFF2-40B4-BE49-F238E27FC236}">
                <a16:creationId xmlns:a16="http://schemas.microsoft.com/office/drawing/2014/main" id="{6387E7B2-5CF7-FB87-9E5D-47BA67E7C9DF}"/>
              </a:ext>
            </a:extLst>
          </p:cNvPr>
          <p:cNvSpPr txBox="1"/>
          <p:nvPr/>
        </p:nvSpPr>
        <p:spPr>
          <a:xfrm>
            <a:off x="6096000" y="2384464"/>
            <a:ext cx="2834471" cy="369332"/>
          </a:xfrm>
          <a:prstGeom prst="rect">
            <a:avLst/>
          </a:prstGeom>
          <a:noFill/>
        </p:spPr>
        <p:txBody>
          <a:bodyPr wrap="square" rtlCol="0">
            <a:spAutoFit/>
          </a:bodyPr>
          <a:lstStyle/>
          <a:p>
            <a:r>
              <a:rPr lang="en-IN" dirty="0"/>
              <a:t>Before cleaning:</a:t>
            </a:r>
          </a:p>
        </p:txBody>
      </p:sp>
      <p:sp>
        <p:nvSpPr>
          <p:cNvPr id="19" name="TextBox 18">
            <a:extLst>
              <a:ext uri="{FF2B5EF4-FFF2-40B4-BE49-F238E27FC236}">
                <a16:creationId xmlns:a16="http://schemas.microsoft.com/office/drawing/2014/main" id="{C40848DE-72B1-7180-7C05-09DDBD4750E8}"/>
              </a:ext>
            </a:extLst>
          </p:cNvPr>
          <p:cNvSpPr txBox="1"/>
          <p:nvPr/>
        </p:nvSpPr>
        <p:spPr>
          <a:xfrm>
            <a:off x="6097524" y="3350636"/>
            <a:ext cx="6094476" cy="369332"/>
          </a:xfrm>
          <a:prstGeom prst="rect">
            <a:avLst/>
          </a:prstGeom>
          <a:noFill/>
        </p:spPr>
        <p:txBody>
          <a:bodyPr wrap="square">
            <a:spAutoFit/>
          </a:bodyPr>
          <a:lstStyle/>
          <a:p>
            <a:r>
              <a:rPr lang="en-IN" dirty="0"/>
              <a:t>After cleaning:</a:t>
            </a:r>
          </a:p>
        </p:txBody>
      </p:sp>
      <p:pic>
        <p:nvPicPr>
          <p:cNvPr id="21" name="Picture 20">
            <a:extLst>
              <a:ext uri="{FF2B5EF4-FFF2-40B4-BE49-F238E27FC236}">
                <a16:creationId xmlns:a16="http://schemas.microsoft.com/office/drawing/2014/main" id="{22BFC14B-05C7-B720-5F0D-CF4DC32BAC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72369" y="3740936"/>
            <a:ext cx="5197463" cy="682963"/>
          </a:xfrm>
          <a:prstGeom prst="rect">
            <a:avLst/>
          </a:prstGeom>
        </p:spPr>
      </p:pic>
      <p:sp>
        <p:nvSpPr>
          <p:cNvPr id="22" name="TextBox 21">
            <a:extLst>
              <a:ext uri="{FF2B5EF4-FFF2-40B4-BE49-F238E27FC236}">
                <a16:creationId xmlns:a16="http://schemas.microsoft.com/office/drawing/2014/main" id="{A7782B60-1866-7764-512E-914D104C6CC3}"/>
              </a:ext>
            </a:extLst>
          </p:cNvPr>
          <p:cNvSpPr txBox="1"/>
          <p:nvPr/>
        </p:nvSpPr>
        <p:spPr>
          <a:xfrm>
            <a:off x="1407414" y="5319048"/>
            <a:ext cx="9377172" cy="1130118"/>
          </a:xfrm>
          <a:prstGeom prst="rect">
            <a:avLst/>
          </a:prstGeom>
          <a:noFill/>
        </p:spPr>
        <p:txBody>
          <a:bodyPr wrap="square" rtlCol="0">
            <a:spAutoFit/>
          </a:bodyPr>
          <a:lstStyle/>
          <a:p>
            <a:pPr>
              <a:lnSpc>
                <a:spcPct val="150000"/>
              </a:lnSpc>
            </a:pPr>
            <a:r>
              <a:rPr lang="en-US" sz="2400" b="1" dirty="0"/>
              <a:t>• Standardized categorical values (Yes/No, text formats)</a:t>
            </a:r>
            <a:br>
              <a:rPr lang="en-US" sz="2400" b="1" dirty="0"/>
            </a:br>
            <a:r>
              <a:rPr lang="en-US" sz="2400" b="1" dirty="0"/>
              <a:t>• Fixed inconsistent departments</a:t>
            </a:r>
            <a:endParaRPr lang="en-IN" sz="2400" b="1" dirty="0"/>
          </a:p>
        </p:txBody>
      </p:sp>
    </p:spTree>
    <p:extLst>
      <p:ext uri="{BB962C8B-B14F-4D97-AF65-F5344CB8AC3E}">
        <p14:creationId xmlns:p14="http://schemas.microsoft.com/office/powerpoint/2010/main" val="3845489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C77758-75AA-9403-B07A-4166BA2D66DA}"/>
              </a:ext>
            </a:extLst>
          </p:cNvPr>
          <p:cNvSpPr txBox="1"/>
          <p:nvPr/>
        </p:nvSpPr>
        <p:spPr>
          <a:xfrm>
            <a:off x="1538478" y="661154"/>
            <a:ext cx="8135874" cy="584775"/>
          </a:xfrm>
          <a:prstGeom prst="rect">
            <a:avLst/>
          </a:prstGeom>
          <a:noFill/>
        </p:spPr>
        <p:txBody>
          <a:bodyPr wrap="square">
            <a:spAutoFit/>
          </a:bodyPr>
          <a:lstStyle/>
          <a:p>
            <a:r>
              <a:rPr lang="en-IN" sz="3200" b="1" dirty="0">
                <a:solidFill>
                  <a:schemeClr val="accent1"/>
                </a:solidFill>
              </a:rPr>
              <a:t>DATA CLEANING : </a:t>
            </a:r>
            <a:r>
              <a:rPr lang="en-IN" sz="3200" b="1" dirty="0">
                <a:solidFill>
                  <a:srgbClr val="002060"/>
                </a:solidFill>
              </a:rPr>
              <a:t>Final Output</a:t>
            </a:r>
          </a:p>
        </p:txBody>
      </p:sp>
      <p:pic>
        <p:nvPicPr>
          <p:cNvPr id="5" name="Picture 4">
            <a:extLst>
              <a:ext uri="{FF2B5EF4-FFF2-40B4-BE49-F238E27FC236}">
                <a16:creationId xmlns:a16="http://schemas.microsoft.com/office/drawing/2014/main" id="{A9209C33-A29D-B0BD-AF6A-09D386BF38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8478" y="2205019"/>
            <a:ext cx="9162288" cy="2226946"/>
          </a:xfrm>
          <a:prstGeom prst="rect">
            <a:avLst/>
          </a:prstGeom>
        </p:spPr>
      </p:pic>
      <p:pic>
        <p:nvPicPr>
          <p:cNvPr id="7" name="Picture 6">
            <a:extLst>
              <a:ext uri="{FF2B5EF4-FFF2-40B4-BE49-F238E27FC236}">
                <a16:creationId xmlns:a16="http://schemas.microsoft.com/office/drawing/2014/main" id="{EAD8E5FE-D845-7999-40F5-47E77EA73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8478" y="4506528"/>
            <a:ext cx="5712714" cy="2267861"/>
          </a:xfrm>
          <a:prstGeom prst="rect">
            <a:avLst/>
          </a:prstGeom>
        </p:spPr>
      </p:pic>
      <p:sp>
        <p:nvSpPr>
          <p:cNvPr id="8" name="TextBox 7">
            <a:extLst>
              <a:ext uri="{FF2B5EF4-FFF2-40B4-BE49-F238E27FC236}">
                <a16:creationId xmlns:a16="http://schemas.microsoft.com/office/drawing/2014/main" id="{D6BFC491-0054-E50F-FBD6-8ED6FBBFF774}"/>
              </a:ext>
            </a:extLst>
          </p:cNvPr>
          <p:cNvSpPr txBox="1"/>
          <p:nvPr/>
        </p:nvSpPr>
        <p:spPr>
          <a:xfrm>
            <a:off x="1538478" y="1402308"/>
            <a:ext cx="6217920" cy="646331"/>
          </a:xfrm>
          <a:prstGeom prst="rect">
            <a:avLst/>
          </a:prstGeom>
          <a:noFill/>
        </p:spPr>
        <p:txBody>
          <a:bodyPr wrap="square" rtlCol="0">
            <a:spAutoFit/>
          </a:bodyPr>
          <a:lstStyle/>
          <a:p>
            <a:r>
              <a:rPr lang="en-US" b="1" dirty="0"/>
              <a:t>• Generated a clean and structured dataset</a:t>
            </a:r>
            <a:br>
              <a:rPr lang="en-US" b="1" dirty="0"/>
            </a:br>
            <a:r>
              <a:rPr lang="en-US" b="1" dirty="0"/>
              <a:t>• Ready for SQL and Power BI</a:t>
            </a:r>
            <a:endParaRPr lang="en-IN" b="1" dirty="0"/>
          </a:p>
        </p:txBody>
      </p:sp>
    </p:spTree>
    <p:extLst>
      <p:ext uri="{BB962C8B-B14F-4D97-AF65-F5344CB8AC3E}">
        <p14:creationId xmlns:p14="http://schemas.microsoft.com/office/powerpoint/2010/main" val="1625933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165F00-2978-DF8B-2230-2A0E469EBA82}"/>
              </a:ext>
            </a:extLst>
          </p:cNvPr>
          <p:cNvSpPr txBox="1"/>
          <p:nvPr/>
        </p:nvSpPr>
        <p:spPr>
          <a:xfrm>
            <a:off x="1691640" y="557784"/>
            <a:ext cx="5294376" cy="769441"/>
          </a:xfrm>
          <a:prstGeom prst="rect">
            <a:avLst/>
          </a:prstGeom>
          <a:noFill/>
        </p:spPr>
        <p:txBody>
          <a:bodyPr wrap="square" rtlCol="0">
            <a:spAutoFit/>
          </a:bodyPr>
          <a:lstStyle/>
          <a:p>
            <a:r>
              <a:rPr lang="en-IN" sz="4400" b="1" dirty="0">
                <a:solidFill>
                  <a:srgbClr val="C00000"/>
                </a:solidFill>
              </a:rPr>
              <a:t>SQL Processing</a:t>
            </a:r>
          </a:p>
        </p:txBody>
      </p:sp>
      <p:sp>
        <p:nvSpPr>
          <p:cNvPr id="3" name="TextBox 2">
            <a:extLst>
              <a:ext uri="{FF2B5EF4-FFF2-40B4-BE49-F238E27FC236}">
                <a16:creationId xmlns:a16="http://schemas.microsoft.com/office/drawing/2014/main" id="{56F58739-CD3E-45B1-D559-A937A9AFBA5C}"/>
              </a:ext>
            </a:extLst>
          </p:cNvPr>
          <p:cNvSpPr txBox="1"/>
          <p:nvPr/>
        </p:nvSpPr>
        <p:spPr>
          <a:xfrm>
            <a:off x="2331720" y="1861840"/>
            <a:ext cx="6675120" cy="3134320"/>
          </a:xfrm>
          <a:prstGeom prst="rect">
            <a:avLst/>
          </a:prstGeom>
          <a:noFill/>
        </p:spPr>
        <p:txBody>
          <a:bodyPr wrap="square" rtlCol="0">
            <a:spAutoFit/>
          </a:bodyPr>
          <a:lstStyle/>
          <a:p>
            <a:pPr>
              <a:lnSpc>
                <a:spcPct val="250000"/>
              </a:lnSpc>
            </a:pPr>
            <a:r>
              <a:rPr lang="en-US" sz="2800" b="1" dirty="0"/>
              <a:t>• Imported cleaned data into SQL</a:t>
            </a:r>
            <a:br>
              <a:rPr lang="en-US" sz="2800" b="1" dirty="0"/>
            </a:br>
            <a:r>
              <a:rPr lang="en-US" sz="2800" b="1" dirty="0"/>
              <a:t>• Modified incorrect data types</a:t>
            </a:r>
            <a:br>
              <a:rPr lang="en-US" sz="2800" b="1" dirty="0"/>
            </a:br>
            <a:r>
              <a:rPr lang="en-US" sz="2800" b="1" dirty="0"/>
              <a:t>• Performed validation and analysis</a:t>
            </a:r>
            <a:endParaRPr lang="en-IN" sz="2800" b="1" dirty="0"/>
          </a:p>
        </p:txBody>
      </p:sp>
    </p:spTree>
    <p:extLst>
      <p:ext uri="{BB962C8B-B14F-4D97-AF65-F5344CB8AC3E}">
        <p14:creationId xmlns:p14="http://schemas.microsoft.com/office/powerpoint/2010/main" val="352773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448172-F10C-81A4-207F-C57BA01ED6F2}"/>
              </a:ext>
            </a:extLst>
          </p:cNvPr>
          <p:cNvSpPr txBox="1"/>
          <p:nvPr/>
        </p:nvSpPr>
        <p:spPr>
          <a:xfrm>
            <a:off x="3933444" y="0"/>
            <a:ext cx="5440680" cy="523220"/>
          </a:xfrm>
          <a:prstGeom prst="rect">
            <a:avLst/>
          </a:prstGeom>
          <a:noFill/>
        </p:spPr>
        <p:txBody>
          <a:bodyPr wrap="square" rtlCol="0">
            <a:spAutoFit/>
          </a:bodyPr>
          <a:lstStyle/>
          <a:p>
            <a:r>
              <a:rPr lang="en-IN" sz="2800" b="1" dirty="0">
                <a:solidFill>
                  <a:srgbClr val="C00000"/>
                </a:solidFill>
                <a:hlinkClick r:id="rId2" action="ppaction://hlinkfile">
                  <a:extLst>
                    <a:ext uri="{A12FA001-AC4F-418D-AE19-62706E023703}">
                      <ahyp:hlinkClr xmlns:ahyp="http://schemas.microsoft.com/office/drawing/2018/hyperlinkcolor" val="tx"/>
                    </a:ext>
                  </a:extLst>
                </a:hlinkClick>
              </a:rPr>
              <a:t>Dashboard Overview</a:t>
            </a:r>
            <a:endParaRPr lang="en-IN" sz="2800" b="1" dirty="0">
              <a:solidFill>
                <a:srgbClr val="C00000"/>
              </a:solidFill>
            </a:endParaRPr>
          </a:p>
        </p:txBody>
      </p:sp>
      <p:pic>
        <p:nvPicPr>
          <p:cNvPr id="4" name="Picture 3">
            <a:extLst>
              <a:ext uri="{FF2B5EF4-FFF2-40B4-BE49-F238E27FC236}">
                <a16:creationId xmlns:a16="http://schemas.microsoft.com/office/drawing/2014/main" id="{9D3308B3-46B1-909A-A506-63664EE252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451" y="690791"/>
            <a:ext cx="6086067" cy="3021673"/>
          </a:xfrm>
          <a:prstGeom prst="rect">
            <a:avLst/>
          </a:prstGeom>
          <a:ln>
            <a:solidFill>
              <a:schemeClr val="bg1">
                <a:lumMod val="65000"/>
              </a:schemeClr>
            </a:solidFill>
          </a:ln>
          <a:effectLst>
            <a:outerShdw blurRad="50800" dist="38100" dir="8100000" algn="tr" rotWithShape="0">
              <a:prstClr val="black">
                <a:alpha val="40000"/>
              </a:prstClr>
            </a:outerShdw>
          </a:effectLst>
          <a:scene3d>
            <a:camera prst="perspectiveRight"/>
            <a:lightRig rig="threePt" dir="t"/>
          </a:scene3d>
        </p:spPr>
      </p:pic>
      <p:pic>
        <p:nvPicPr>
          <p:cNvPr id="6" name="Picture 5">
            <a:extLst>
              <a:ext uri="{FF2B5EF4-FFF2-40B4-BE49-F238E27FC236}">
                <a16:creationId xmlns:a16="http://schemas.microsoft.com/office/drawing/2014/main" id="{9620DCD4-27DC-8C15-D916-E2BF38964F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8870" y="690791"/>
            <a:ext cx="6156279" cy="3021673"/>
          </a:xfrm>
          <a:prstGeom prst="rect">
            <a:avLst/>
          </a:prstGeom>
          <a:ln>
            <a:solidFill>
              <a:schemeClr val="bg1">
                <a:lumMod val="65000"/>
              </a:schemeClr>
            </a:solidFill>
          </a:ln>
          <a:effectLst>
            <a:outerShdw blurRad="50800" dist="38100" dir="2700000" algn="tl" rotWithShape="0">
              <a:prstClr val="black">
                <a:alpha val="40000"/>
              </a:prstClr>
            </a:outerShdw>
          </a:effectLst>
          <a:scene3d>
            <a:camera prst="perspectiveLeft"/>
            <a:lightRig rig="threePt" dir="t"/>
          </a:scene3d>
        </p:spPr>
      </p:pic>
      <p:sp>
        <p:nvSpPr>
          <p:cNvPr id="7" name="TextBox 6">
            <a:extLst>
              <a:ext uri="{FF2B5EF4-FFF2-40B4-BE49-F238E27FC236}">
                <a16:creationId xmlns:a16="http://schemas.microsoft.com/office/drawing/2014/main" id="{13C50B71-CD03-43F9-7D11-92163E722787}"/>
              </a:ext>
            </a:extLst>
          </p:cNvPr>
          <p:cNvSpPr txBox="1"/>
          <p:nvPr/>
        </p:nvSpPr>
        <p:spPr>
          <a:xfrm>
            <a:off x="1921029" y="4099298"/>
            <a:ext cx="9473184" cy="2954655"/>
          </a:xfrm>
          <a:prstGeom prst="rect">
            <a:avLst/>
          </a:prstGeom>
          <a:noFill/>
        </p:spPr>
        <p:txBody>
          <a:bodyPr wrap="square" rtlCol="0">
            <a:spAutoFit/>
          </a:bodyPr>
          <a:lstStyle/>
          <a:p>
            <a:r>
              <a:rPr lang="en-US" sz="2400" b="1" dirty="0"/>
              <a:t>Built an interactive Power BI dashboard to analyze:</a:t>
            </a:r>
          </a:p>
          <a:p>
            <a:endParaRPr lang="en-US" sz="2400" b="1" dirty="0"/>
          </a:p>
          <a:p>
            <a:pPr marL="285750" indent="-285750">
              <a:buFont typeface="Wingdings" panose="05000000000000000000" pitchFamily="2" charset="2"/>
              <a:buChar char="Ø"/>
            </a:pPr>
            <a:r>
              <a:rPr lang="en-US" sz="2400" b="1" dirty="0"/>
              <a:t>Waiting time</a:t>
            </a:r>
          </a:p>
          <a:p>
            <a:pPr marL="285750" indent="-285750">
              <a:buFont typeface="Wingdings" panose="05000000000000000000" pitchFamily="2" charset="2"/>
              <a:buChar char="Ø"/>
            </a:pPr>
            <a:r>
              <a:rPr lang="en-US" sz="2400" b="1" dirty="0"/>
              <a:t>Treatment cost</a:t>
            </a:r>
          </a:p>
          <a:p>
            <a:pPr marL="285750" indent="-285750">
              <a:buFont typeface="Wingdings" panose="05000000000000000000" pitchFamily="2" charset="2"/>
              <a:buChar char="Ø"/>
            </a:pPr>
            <a:r>
              <a:rPr lang="en-US" sz="2400" b="1" dirty="0"/>
              <a:t>Readmission rate</a:t>
            </a:r>
          </a:p>
          <a:p>
            <a:pPr marL="285750" indent="-285750">
              <a:buFont typeface="Wingdings" panose="05000000000000000000" pitchFamily="2" charset="2"/>
              <a:buChar char="Ø"/>
            </a:pPr>
            <a:r>
              <a:rPr lang="en-US" sz="2400" b="1" dirty="0"/>
              <a:t>Doctor performance</a:t>
            </a:r>
          </a:p>
          <a:p>
            <a:pPr marL="285750" indent="-285750">
              <a:buFont typeface="Wingdings" panose="05000000000000000000" pitchFamily="2" charset="2"/>
              <a:buChar char="Ø"/>
            </a:pPr>
            <a:r>
              <a:rPr lang="en-US" sz="2400" b="1" dirty="0"/>
              <a:t>Revenue trends</a:t>
            </a:r>
          </a:p>
          <a:p>
            <a:endParaRPr lang="en-IN" dirty="0"/>
          </a:p>
        </p:txBody>
      </p:sp>
    </p:spTree>
    <p:extLst>
      <p:ext uri="{BB962C8B-B14F-4D97-AF65-F5344CB8AC3E}">
        <p14:creationId xmlns:p14="http://schemas.microsoft.com/office/powerpoint/2010/main" val="925721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96D669-9787-9071-1AB7-B8AEC61AB285}"/>
              </a:ext>
            </a:extLst>
          </p:cNvPr>
          <p:cNvSpPr txBox="1"/>
          <p:nvPr/>
        </p:nvSpPr>
        <p:spPr>
          <a:xfrm>
            <a:off x="1581912" y="630936"/>
            <a:ext cx="5001768" cy="584775"/>
          </a:xfrm>
          <a:prstGeom prst="rect">
            <a:avLst/>
          </a:prstGeom>
          <a:noFill/>
        </p:spPr>
        <p:txBody>
          <a:bodyPr wrap="square" rtlCol="0">
            <a:spAutoFit/>
          </a:bodyPr>
          <a:lstStyle/>
          <a:p>
            <a:r>
              <a:rPr lang="en-IN" sz="3200" b="1" dirty="0">
                <a:solidFill>
                  <a:srgbClr val="C00000"/>
                </a:solidFill>
              </a:rPr>
              <a:t>Waiting Time Analysis</a:t>
            </a:r>
          </a:p>
        </p:txBody>
      </p:sp>
      <p:pic>
        <p:nvPicPr>
          <p:cNvPr id="4" name="Picture 3">
            <a:extLst>
              <a:ext uri="{FF2B5EF4-FFF2-40B4-BE49-F238E27FC236}">
                <a16:creationId xmlns:a16="http://schemas.microsoft.com/office/drawing/2014/main" id="{9A0297F5-6B43-4640-D213-A30C1827A7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6040" y="1690716"/>
            <a:ext cx="5001768" cy="2667398"/>
          </a:xfrm>
          <a:prstGeom prst="rect">
            <a:avLst/>
          </a:prstGeom>
          <a:ln>
            <a:solidFill>
              <a:schemeClr val="bg1">
                <a:lumMod val="75000"/>
              </a:schemeClr>
            </a:solidFill>
          </a:ln>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9721DDBE-8FB8-A06D-17D6-26097E3B126F}"/>
              </a:ext>
            </a:extLst>
          </p:cNvPr>
          <p:cNvSpPr txBox="1"/>
          <p:nvPr/>
        </p:nvSpPr>
        <p:spPr>
          <a:xfrm>
            <a:off x="1581912" y="4833119"/>
            <a:ext cx="7479792" cy="1384995"/>
          </a:xfrm>
          <a:prstGeom prst="rect">
            <a:avLst/>
          </a:prstGeom>
          <a:noFill/>
        </p:spPr>
        <p:txBody>
          <a:bodyPr wrap="square" rtlCol="0">
            <a:spAutoFit/>
          </a:bodyPr>
          <a:lstStyle/>
          <a:p>
            <a:r>
              <a:rPr lang="en-US" sz="2800" b="1" dirty="0"/>
              <a:t>• </a:t>
            </a:r>
            <a:r>
              <a:rPr lang="en-US" sz="2800" b="1" dirty="0">
                <a:solidFill>
                  <a:schemeClr val="accent1">
                    <a:lumMod val="60000"/>
                    <a:lumOff val="40000"/>
                  </a:schemeClr>
                </a:solidFill>
              </a:rPr>
              <a:t>Cardiology</a:t>
            </a:r>
            <a:r>
              <a:rPr lang="en-US" sz="2800" b="1" dirty="0"/>
              <a:t> has highest waiting time</a:t>
            </a:r>
            <a:br>
              <a:rPr lang="en-US" sz="2800" b="1" dirty="0"/>
            </a:br>
            <a:r>
              <a:rPr lang="en-US" sz="2800" b="1" dirty="0"/>
              <a:t>• </a:t>
            </a:r>
            <a:r>
              <a:rPr lang="en-US" sz="2800" b="1" dirty="0">
                <a:solidFill>
                  <a:srgbClr val="00B0F0"/>
                </a:solidFill>
              </a:rPr>
              <a:t>Pediatrics</a:t>
            </a:r>
            <a:r>
              <a:rPr lang="en-US" sz="2800" b="1" dirty="0"/>
              <a:t> has lowest</a:t>
            </a:r>
            <a:br>
              <a:rPr lang="en-US" sz="2800" b="1" dirty="0"/>
            </a:br>
            <a:r>
              <a:rPr lang="en-US" sz="2800" b="1" dirty="0"/>
              <a:t>• Indicates </a:t>
            </a:r>
            <a:r>
              <a:rPr lang="en-US" sz="2800" b="1" dirty="0">
                <a:solidFill>
                  <a:schemeClr val="accent3">
                    <a:lumMod val="75000"/>
                  </a:schemeClr>
                </a:solidFill>
              </a:rPr>
              <a:t>resource imbalance</a:t>
            </a:r>
            <a:endParaRPr lang="en-IN" sz="2800" b="1" dirty="0">
              <a:solidFill>
                <a:schemeClr val="accent3">
                  <a:lumMod val="75000"/>
                </a:schemeClr>
              </a:solidFill>
            </a:endParaRPr>
          </a:p>
        </p:txBody>
      </p:sp>
    </p:spTree>
    <p:extLst>
      <p:ext uri="{BB962C8B-B14F-4D97-AF65-F5344CB8AC3E}">
        <p14:creationId xmlns:p14="http://schemas.microsoft.com/office/powerpoint/2010/main" val="21506522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CB3E3D-AE33-1264-2BA3-37C631CA3DC3}"/>
              </a:ext>
            </a:extLst>
          </p:cNvPr>
          <p:cNvSpPr txBox="1"/>
          <p:nvPr/>
        </p:nvSpPr>
        <p:spPr>
          <a:xfrm>
            <a:off x="1629918" y="624578"/>
            <a:ext cx="6094476" cy="646331"/>
          </a:xfrm>
          <a:prstGeom prst="rect">
            <a:avLst/>
          </a:prstGeom>
          <a:noFill/>
        </p:spPr>
        <p:txBody>
          <a:bodyPr wrap="square">
            <a:spAutoFit/>
          </a:bodyPr>
          <a:lstStyle/>
          <a:p>
            <a:r>
              <a:rPr lang="en-IN" sz="3600" b="1" dirty="0">
                <a:solidFill>
                  <a:srgbClr val="C00000"/>
                </a:solidFill>
              </a:rPr>
              <a:t>Cost Analysis</a:t>
            </a:r>
          </a:p>
        </p:txBody>
      </p:sp>
      <p:sp>
        <p:nvSpPr>
          <p:cNvPr id="4" name="TextBox 3">
            <a:extLst>
              <a:ext uri="{FF2B5EF4-FFF2-40B4-BE49-F238E27FC236}">
                <a16:creationId xmlns:a16="http://schemas.microsoft.com/office/drawing/2014/main" id="{F8A73D6A-69FB-73AD-FFF0-C63F07672D8B}"/>
              </a:ext>
            </a:extLst>
          </p:cNvPr>
          <p:cNvSpPr txBox="1"/>
          <p:nvPr/>
        </p:nvSpPr>
        <p:spPr>
          <a:xfrm>
            <a:off x="1271016" y="4233672"/>
            <a:ext cx="10835640" cy="2116285"/>
          </a:xfrm>
          <a:prstGeom prst="rect">
            <a:avLst/>
          </a:prstGeom>
          <a:noFill/>
        </p:spPr>
        <p:txBody>
          <a:bodyPr wrap="square" rtlCol="0">
            <a:spAutoFit/>
          </a:bodyPr>
          <a:lstStyle/>
          <a:p>
            <a:pPr>
              <a:lnSpc>
                <a:spcPct val="150000"/>
              </a:lnSpc>
            </a:pPr>
            <a:r>
              <a:rPr lang="en-US" b="1" dirty="0"/>
              <a:t>• </a:t>
            </a:r>
            <a:r>
              <a:rPr lang="en-US" b="1" dirty="0">
                <a:solidFill>
                  <a:schemeClr val="accent2"/>
                </a:solidFill>
              </a:rPr>
              <a:t>Surgical treatments </a:t>
            </a:r>
            <a:r>
              <a:rPr lang="en-US" b="1" dirty="0"/>
              <a:t>consistently show the highest average cost, indicating resource-intensive procedures</a:t>
            </a:r>
            <a:br>
              <a:rPr lang="en-US" b="1" dirty="0"/>
            </a:br>
            <a:r>
              <a:rPr lang="en-US" b="1" dirty="0"/>
              <a:t>• </a:t>
            </a:r>
            <a:r>
              <a:rPr lang="en-US" b="1" dirty="0">
                <a:solidFill>
                  <a:srgbClr val="00B050"/>
                </a:solidFill>
              </a:rPr>
              <a:t>Observation-based treatments </a:t>
            </a:r>
            <a:r>
              <a:rPr lang="en-US" b="1" dirty="0"/>
              <a:t>have significantly lower costs, making them the most economical option</a:t>
            </a:r>
            <a:br>
              <a:rPr lang="en-US" b="1" dirty="0"/>
            </a:br>
            <a:r>
              <a:rPr lang="en-US" b="1" dirty="0"/>
              <a:t>• This suggests that </a:t>
            </a:r>
            <a:r>
              <a:rPr lang="en-US" b="1" dirty="0">
                <a:solidFill>
                  <a:srgbClr val="000099"/>
                </a:solidFill>
              </a:rPr>
              <a:t>cost optimization efforts should focus on high-frequency surgical procedures</a:t>
            </a:r>
            <a:endParaRPr lang="en-IN" b="1" dirty="0">
              <a:solidFill>
                <a:srgbClr val="000099"/>
              </a:solidFill>
            </a:endParaRPr>
          </a:p>
        </p:txBody>
      </p:sp>
      <p:pic>
        <p:nvPicPr>
          <p:cNvPr id="6" name="Picture 5">
            <a:extLst>
              <a:ext uri="{FF2B5EF4-FFF2-40B4-BE49-F238E27FC236}">
                <a16:creationId xmlns:a16="http://schemas.microsoft.com/office/drawing/2014/main" id="{351C292B-8774-3F58-19F4-D59DE984B7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9201" y="1619215"/>
            <a:ext cx="4163006" cy="2467319"/>
          </a:xfrm>
          <a:prstGeom prst="rect">
            <a:avLst/>
          </a:prstGeom>
          <a:ln>
            <a:solidFill>
              <a:schemeClr val="bg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27986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ECF7D5-4918-D31D-C037-367E343E2331}"/>
              </a:ext>
            </a:extLst>
          </p:cNvPr>
          <p:cNvSpPr txBox="1"/>
          <p:nvPr/>
        </p:nvSpPr>
        <p:spPr>
          <a:xfrm>
            <a:off x="1664208" y="4078224"/>
            <a:ext cx="10360152" cy="2652393"/>
          </a:xfrm>
          <a:prstGeom prst="rect">
            <a:avLst/>
          </a:prstGeom>
          <a:noFill/>
        </p:spPr>
        <p:txBody>
          <a:bodyPr wrap="square" rtlCol="0">
            <a:spAutoFit/>
          </a:bodyPr>
          <a:lstStyle/>
          <a:p>
            <a:pPr>
              <a:lnSpc>
                <a:spcPct val="150000"/>
              </a:lnSpc>
            </a:pPr>
            <a:r>
              <a:rPr lang="en-US" b="1" dirty="0"/>
              <a:t>• </a:t>
            </a:r>
            <a:r>
              <a:rPr lang="en-US" b="1" dirty="0">
                <a:solidFill>
                  <a:schemeClr val="accent1"/>
                </a:solidFill>
              </a:rPr>
              <a:t>Cardiology</a:t>
            </a:r>
            <a:r>
              <a:rPr lang="en-US" b="1" dirty="0"/>
              <a:t> and </a:t>
            </a:r>
            <a:r>
              <a:rPr lang="en-US" b="1" dirty="0">
                <a:solidFill>
                  <a:schemeClr val="accent2">
                    <a:lumMod val="75000"/>
                  </a:schemeClr>
                </a:solidFill>
              </a:rPr>
              <a:t>Orthopedics</a:t>
            </a:r>
            <a:r>
              <a:rPr lang="en-US" b="1" dirty="0"/>
              <a:t> shows the highest readmission rate, indicating </a:t>
            </a:r>
            <a:r>
              <a:rPr lang="en-US" b="1" dirty="0">
                <a:solidFill>
                  <a:schemeClr val="accent6">
                    <a:lumMod val="75000"/>
                  </a:schemeClr>
                </a:solidFill>
              </a:rPr>
              <a:t>possible challenges in handling complex cases</a:t>
            </a:r>
            <a:br>
              <a:rPr lang="en-US" b="1" dirty="0"/>
            </a:br>
            <a:r>
              <a:rPr lang="en-US" b="1" dirty="0"/>
              <a:t>• Other departments show relatively lower readmission rates, suggesting better recovery outcomes</a:t>
            </a:r>
          </a:p>
          <a:p>
            <a:pPr marL="285750" indent="-285750">
              <a:lnSpc>
                <a:spcPct val="150000"/>
              </a:lnSpc>
              <a:buFont typeface="Arial" panose="020B0604020202020204" pitchFamily="34" charset="0"/>
              <a:buChar char="•"/>
            </a:pPr>
            <a:r>
              <a:rPr lang="en-IN" b="1" dirty="0"/>
              <a:t>  Patient satisfaction differs across doctors</a:t>
            </a:r>
            <a:endParaRPr lang="en-US" b="1" dirty="0"/>
          </a:p>
          <a:p>
            <a:pPr>
              <a:lnSpc>
                <a:spcPct val="150000"/>
              </a:lnSpc>
            </a:pPr>
            <a:endParaRPr lang="en-US" sz="2400" b="1" dirty="0"/>
          </a:p>
        </p:txBody>
      </p:sp>
      <p:sp>
        <p:nvSpPr>
          <p:cNvPr id="4" name="TextBox 3">
            <a:extLst>
              <a:ext uri="{FF2B5EF4-FFF2-40B4-BE49-F238E27FC236}">
                <a16:creationId xmlns:a16="http://schemas.microsoft.com/office/drawing/2014/main" id="{AF55A7B6-67DD-E4A9-B298-51B33A26990D}"/>
              </a:ext>
            </a:extLst>
          </p:cNvPr>
          <p:cNvSpPr txBox="1"/>
          <p:nvPr/>
        </p:nvSpPr>
        <p:spPr>
          <a:xfrm>
            <a:off x="1664208" y="701879"/>
            <a:ext cx="6094476" cy="584775"/>
          </a:xfrm>
          <a:prstGeom prst="rect">
            <a:avLst/>
          </a:prstGeom>
          <a:noFill/>
        </p:spPr>
        <p:txBody>
          <a:bodyPr wrap="square">
            <a:spAutoFit/>
          </a:bodyPr>
          <a:lstStyle/>
          <a:p>
            <a:r>
              <a:rPr lang="en-IN" sz="3200" b="1" dirty="0">
                <a:solidFill>
                  <a:srgbClr val="C00000"/>
                </a:solidFill>
              </a:rPr>
              <a:t>Patient Care Analysis</a:t>
            </a:r>
          </a:p>
        </p:txBody>
      </p:sp>
      <p:pic>
        <p:nvPicPr>
          <p:cNvPr id="6" name="Picture 5">
            <a:extLst>
              <a:ext uri="{FF2B5EF4-FFF2-40B4-BE49-F238E27FC236}">
                <a16:creationId xmlns:a16="http://schemas.microsoft.com/office/drawing/2014/main" id="{A7CE9EDF-83B4-5F4D-50B5-5AF2118C1A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1288" y="1563992"/>
            <a:ext cx="4821491" cy="2236894"/>
          </a:xfrm>
          <a:prstGeom prst="rect">
            <a:avLst/>
          </a:prstGeom>
          <a:ln>
            <a:solidFill>
              <a:schemeClr val="bg1">
                <a:lumMod val="75000"/>
              </a:schemeClr>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75E6FB08-9AAE-70B8-41BC-6FA8038ED9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563992"/>
            <a:ext cx="5871193" cy="2236894"/>
          </a:xfrm>
          <a:prstGeom prst="rect">
            <a:avLst/>
          </a:prstGeom>
          <a:ln>
            <a:solidFill>
              <a:schemeClr val="bg1">
                <a:lumMod val="7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84007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EC5CD6-0D40-1E7D-076A-057C5DF921A2}"/>
              </a:ext>
            </a:extLst>
          </p:cNvPr>
          <p:cNvSpPr txBox="1"/>
          <p:nvPr/>
        </p:nvSpPr>
        <p:spPr>
          <a:xfrm>
            <a:off x="1684782" y="597146"/>
            <a:ext cx="6094476" cy="646331"/>
          </a:xfrm>
          <a:prstGeom prst="rect">
            <a:avLst/>
          </a:prstGeom>
          <a:noFill/>
        </p:spPr>
        <p:txBody>
          <a:bodyPr wrap="square">
            <a:spAutoFit/>
          </a:bodyPr>
          <a:lstStyle/>
          <a:p>
            <a:r>
              <a:rPr lang="en-IN" sz="3600" b="1" dirty="0">
                <a:solidFill>
                  <a:srgbClr val="C00000"/>
                </a:solidFill>
              </a:rPr>
              <a:t>Revenue Analysis</a:t>
            </a:r>
          </a:p>
        </p:txBody>
      </p:sp>
      <p:pic>
        <p:nvPicPr>
          <p:cNvPr id="5" name="Picture 4">
            <a:extLst>
              <a:ext uri="{FF2B5EF4-FFF2-40B4-BE49-F238E27FC236}">
                <a16:creationId xmlns:a16="http://schemas.microsoft.com/office/drawing/2014/main" id="{DE618EF3-967F-DFE5-56B1-0F673B3D21CF}"/>
              </a:ext>
            </a:extLst>
          </p:cNvPr>
          <p:cNvPicPr>
            <a:picLocks noChangeAspect="1"/>
          </p:cNvPicPr>
          <p:nvPr/>
        </p:nvPicPr>
        <p:blipFill>
          <a:blip r:embed="rId2">
            <a:extLst>
              <a:ext uri="{28A0092B-C50C-407E-A947-70E740481C1C}">
                <a14:useLocalDpi xmlns:a14="http://schemas.microsoft.com/office/drawing/2010/main" val="0"/>
              </a:ext>
            </a:extLst>
          </a:blip>
          <a:srcRect t="1662" r="47682" b="-1662"/>
          <a:stretch>
            <a:fillRect/>
          </a:stretch>
        </p:blipFill>
        <p:spPr>
          <a:xfrm>
            <a:off x="1684782" y="1569757"/>
            <a:ext cx="4231386" cy="2200582"/>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36361983-8A50-D8FC-D61A-0C07A363C1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3578" y="1569757"/>
            <a:ext cx="3901438" cy="2152950"/>
          </a:xfrm>
          <a:prstGeom prst="rect">
            <a:avLst/>
          </a:prstGeom>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F122D8D5-861C-6CBF-1232-2D0BFAF23C2C}"/>
              </a:ext>
            </a:extLst>
          </p:cNvPr>
          <p:cNvSpPr txBox="1"/>
          <p:nvPr/>
        </p:nvSpPr>
        <p:spPr>
          <a:xfrm>
            <a:off x="1453516" y="4096619"/>
            <a:ext cx="10872596" cy="2531783"/>
          </a:xfrm>
          <a:prstGeom prst="rect">
            <a:avLst/>
          </a:prstGeom>
          <a:noFill/>
        </p:spPr>
        <p:txBody>
          <a:bodyPr wrap="square" rtlCol="0">
            <a:spAutoFit/>
          </a:bodyPr>
          <a:lstStyle/>
          <a:p>
            <a:pPr>
              <a:lnSpc>
                <a:spcPct val="150000"/>
              </a:lnSpc>
            </a:pPr>
            <a:r>
              <a:rPr lang="en-US" b="1" dirty="0"/>
              <a:t>• </a:t>
            </a:r>
            <a:r>
              <a:rPr lang="en-US" b="1" dirty="0">
                <a:solidFill>
                  <a:srgbClr val="FF0000"/>
                </a:solidFill>
              </a:rPr>
              <a:t>Cardiology</a:t>
            </a:r>
            <a:r>
              <a:rPr lang="en-US" b="1" dirty="0"/>
              <a:t> contributes the highest share of hospital revenue, driven by high-cost treatments and patient volume</a:t>
            </a:r>
            <a:br>
              <a:rPr lang="en-US" b="1" dirty="0"/>
            </a:br>
            <a:r>
              <a:rPr lang="en-US" b="1" dirty="0"/>
              <a:t>• Revenue is concentrated among a few departments, indicating dependency on specific specialties</a:t>
            </a:r>
            <a:br>
              <a:rPr lang="en-US" b="1" dirty="0"/>
            </a:br>
            <a:r>
              <a:rPr lang="en-US" b="1" dirty="0"/>
              <a:t>• Revenue trends over time show stable growth, helping in </a:t>
            </a:r>
            <a:r>
              <a:rPr lang="en-US" b="1" dirty="0">
                <a:solidFill>
                  <a:srgbClr val="000099"/>
                </a:solidFill>
              </a:rPr>
              <a:t>financial planning </a:t>
            </a:r>
            <a:r>
              <a:rPr lang="en-US" b="1" dirty="0"/>
              <a:t>and </a:t>
            </a:r>
            <a:r>
              <a:rPr lang="en-US" b="1" dirty="0">
                <a:solidFill>
                  <a:srgbClr val="000099"/>
                </a:solidFill>
              </a:rPr>
              <a:t>resource allocation</a:t>
            </a:r>
            <a:endParaRPr lang="en-IN" b="1" dirty="0">
              <a:solidFill>
                <a:srgbClr val="000099"/>
              </a:solidFill>
            </a:endParaRPr>
          </a:p>
        </p:txBody>
      </p:sp>
    </p:spTree>
    <p:extLst>
      <p:ext uri="{BB962C8B-B14F-4D97-AF65-F5344CB8AC3E}">
        <p14:creationId xmlns:p14="http://schemas.microsoft.com/office/powerpoint/2010/main" val="73036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E3C2DC-9FF3-4D44-53C6-7138F3F7C8DF}"/>
              </a:ext>
            </a:extLst>
          </p:cNvPr>
          <p:cNvSpPr txBox="1"/>
          <p:nvPr/>
        </p:nvSpPr>
        <p:spPr>
          <a:xfrm>
            <a:off x="1620774" y="624578"/>
            <a:ext cx="6094476" cy="584775"/>
          </a:xfrm>
          <a:prstGeom prst="rect">
            <a:avLst/>
          </a:prstGeom>
          <a:noFill/>
        </p:spPr>
        <p:txBody>
          <a:bodyPr wrap="square">
            <a:spAutoFit/>
          </a:bodyPr>
          <a:lstStyle/>
          <a:p>
            <a:r>
              <a:rPr lang="en-IN" sz="3200" b="1" dirty="0">
                <a:solidFill>
                  <a:srgbClr val="C00000"/>
                </a:solidFill>
              </a:rPr>
              <a:t>Key Insights</a:t>
            </a:r>
          </a:p>
        </p:txBody>
      </p:sp>
      <p:sp>
        <p:nvSpPr>
          <p:cNvPr id="4" name="TextBox 3">
            <a:extLst>
              <a:ext uri="{FF2B5EF4-FFF2-40B4-BE49-F238E27FC236}">
                <a16:creationId xmlns:a16="http://schemas.microsoft.com/office/drawing/2014/main" id="{02736AC2-4D17-54DD-0A87-C72FF884ABA8}"/>
              </a:ext>
            </a:extLst>
          </p:cNvPr>
          <p:cNvSpPr txBox="1"/>
          <p:nvPr/>
        </p:nvSpPr>
        <p:spPr>
          <a:xfrm>
            <a:off x="1620774" y="1478946"/>
            <a:ext cx="9774936" cy="39001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nSpc>
                <a:spcPct val="150000"/>
              </a:lnSpc>
            </a:pPr>
            <a:r>
              <a:rPr lang="en-US" sz="2400" dirty="0"/>
              <a:t>• Cardiology experiences the longest waiting times, indicating potential resource constraints</a:t>
            </a:r>
            <a:br>
              <a:rPr lang="en-US" sz="2400" dirty="0"/>
            </a:br>
            <a:r>
              <a:rPr lang="en-US" sz="2400" dirty="0"/>
              <a:t>• Surgical treatments are the primary cost drivers in the hospital</a:t>
            </a:r>
            <a:br>
              <a:rPr lang="en-US" sz="2400" dirty="0"/>
            </a:br>
            <a:r>
              <a:rPr lang="en-US" sz="2400" dirty="0"/>
              <a:t>• Cardiology has higher readmission rates, suggesting areas for improvement in patient care</a:t>
            </a:r>
            <a:br>
              <a:rPr lang="en-US" sz="2400" dirty="0"/>
            </a:br>
            <a:r>
              <a:rPr lang="en-US" sz="2400" dirty="0"/>
              <a:t>• Doctors such as </a:t>
            </a:r>
            <a:r>
              <a:rPr lang="en-US" sz="2400" b="1" dirty="0"/>
              <a:t>Dr. Smith and Dr. Patel</a:t>
            </a:r>
            <a:r>
              <a:rPr lang="en-US" sz="2400" dirty="0"/>
              <a:t> perform better in terms of patient satisfaction, while others may require improvement</a:t>
            </a:r>
            <a:endParaRPr lang="en-IN" sz="2400" dirty="0"/>
          </a:p>
        </p:txBody>
      </p:sp>
    </p:spTree>
    <p:extLst>
      <p:ext uri="{BB962C8B-B14F-4D97-AF65-F5344CB8AC3E}">
        <p14:creationId xmlns:p14="http://schemas.microsoft.com/office/powerpoint/2010/main" val="750886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C4B783-57CD-1003-245D-0FD04DEE23DD}"/>
              </a:ext>
            </a:extLst>
          </p:cNvPr>
          <p:cNvSpPr txBox="1"/>
          <p:nvPr/>
        </p:nvSpPr>
        <p:spPr>
          <a:xfrm>
            <a:off x="1620774" y="642866"/>
            <a:ext cx="6094476" cy="584775"/>
          </a:xfrm>
          <a:prstGeom prst="rect">
            <a:avLst/>
          </a:prstGeom>
          <a:noFill/>
        </p:spPr>
        <p:txBody>
          <a:bodyPr wrap="square">
            <a:spAutoFit/>
          </a:bodyPr>
          <a:lstStyle/>
          <a:p>
            <a:r>
              <a:rPr lang="en-IN" sz="3200" b="1" dirty="0">
                <a:solidFill>
                  <a:srgbClr val="C00000"/>
                </a:solidFill>
              </a:rPr>
              <a:t>Conclusion</a:t>
            </a:r>
          </a:p>
        </p:txBody>
      </p:sp>
      <p:sp>
        <p:nvSpPr>
          <p:cNvPr id="4" name="TextBox 3">
            <a:extLst>
              <a:ext uri="{FF2B5EF4-FFF2-40B4-BE49-F238E27FC236}">
                <a16:creationId xmlns:a16="http://schemas.microsoft.com/office/drawing/2014/main" id="{1AD53797-4D9C-21AC-A9BC-96853C5B9E7B}"/>
              </a:ext>
            </a:extLst>
          </p:cNvPr>
          <p:cNvSpPr txBox="1"/>
          <p:nvPr/>
        </p:nvSpPr>
        <p:spPr>
          <a:xfrm>
            <a:off x="1828800" y="1952345"/>
            <a:ext cx="8165592" cy="2953309"/>
          </a:xfrm>
          <a:prstGeom prst="rect">
            <a:avLst/>
          </a:prstGeom>
          <a:noFill/>
        </p:spPr>
        <p:txBody>
          <a:bodyPr wrap="square" rtlCol="0">
            <a:spAutoFit/>
          </a:bodyPr>
          <a:lstStyle/>
          <a:p>
            <a:pPr>
              <a:lnSpc>
                <a:spcPct val="150000"/>
              </a:lnSpc>
            </a:pPr>
            <a:r>
              <a:rPr lang="en-US" sz="3200" i="1" dirty="0"/>
              <a:t>• Identified operational inefficiencies</a:t>
            </a:r>
            <a:br>
              <a:rPr lang="en-US" sz="3200" i="1" dirty="0"/>
            </a:br>
            <a:r>
              <a:rPr lang="en-US" sz="3200" i="1" dirty="0"/>
              <a:t>• Improved data visibility</a:t>
            </a:r>
            <a:br>
              <a:rPr lang="en-US" sz="3200" i="1" dirty="0"/>
            </a:br>
            <a:r>
              <a:rPr lang="en-US" sz="3200" i="1" dirty="0"/>
              <a:t>• Enabled data-driven decisions</a:t>
            </a:r>
            <a:br>
              <a:rPr lang="en-US" sz="3200" i="1" dirty="0"/>
            </a:br>
            <a:r>
              <a:rPr lang="en-US" sz="3200" i="1" dirty="0"/>
              <a:t>• Provided actionable insights</a:t>
            </a:r>
            <a:endParaRPr lang="en-IN" sz="3200" i="1" dirty="0"/>
          </a:p>
        </p:txBody>
      </p:sp>
    </p:spTree>
    <p:extLst>
      <p:ext uri="{BB962C8B-B14F-4D97-AF65-F5344CB8AC3E}">
        <p14:creationId xmlns:p14="http://schemas.microsoft.com/office/powerpoint/2010/main" val="3102399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DD72BB-A32C-C5D4-A063-95D108615A07}"/>
              </a:ext>
            </a:extLst>
          </p:cNvPr>
          <p:cNvSpPr txBox="1"/>
          <p:nvPr/>
        </p:nvSpPr>
        <p:spPr>
          <a:xfrm>
            <a:off x="1629918" y="670298"/>
            <a:ext cx="6094476" cy="584775"/>
          </a:xfrm>
          <a:prstGeom prst="rect">
            <a:avLst/>
          </a:prstGeom>
          <a:noFill/>
        </p:spPr>
        <p:txBody>
          <a:bodyPr wrap="square">
            <a:spAutoFit/>
          </a:bodyPr>
          <a:lstStyle/>
          <a:p>
            <a:r>
              <a:rPr lang="en-IN" sz="3200" b="1" dirty="0">
                <a:solidFill>
                  <a:srgbClr val="C00000"/>
                </a:solidFill>
              </a:rPr>
              <a:t>Future Scope</a:t>
            </a:r>
            <a:endParaRPr lang="en-IN" sz="3200" dirty="0"/>
          </a:p>
        </p:txBody>
      </p:sp>
      <p:sp>
        <p:nvSpPr>
          <p:cNvPr id="4" name="TextBox 3">
            <a:extLst>
              <a:ext uri="{FF2B5EF4-FFF2-40B4-BE49-F238E27FC236}">
                <a16:creationId xmlns:a16="http://schemas.microsoft.com/office/drawing/2014/main" id="{B35AF100-94F2-C8D2-3B2B-D7842E24D50C}"/>
              </a:ext>
            </a:extLst>
          </p:cNvPr>
          <p:cNvSpPr txBox="1"/>
          <p:nvPr/>
        </p:nvSpPr>
        <p:spPr>
          <a:xfrm>
            <a:off x="2506980" y="2221992"/>
            <a:ext cx="7178040" cy="2214645"/>
          </a:xfrm>
          <a:prstGeom prst="rect">
            <a:avLst/>
          </a:prstGeom>
          <a:noFill/>
        </p:spPr>
        <p:txBody>
          <a:bodyPr wrap="square" rtlCol="0">
            <a:spAutoFit/>
          </a:bodyPr>
          <a:lstStyle/>
          <a:p>
            <a:pPr>
              <a:lnSpc>
                <a:spcPct val="150000"/>
              </a:lnSpc>
            </a:pPr>
            <a:r>
              <a:rPr lang="en-US" sz="3200" dirty="0"/>
              <a:t>• Predict readmission using ML</a:t>
            </a:r>
            <a:br>
              <a:rPr lang="en-US" sz="3200" dirty="0"/>
            </a:br>
            <a:r>
              <a:rPr lang="en-US" sz="3200" dirty="0"/>
              <a:t>• Automate reporting system</a:t>
            </a:r>
            <a:br>
              <a:rPr lang="en-US" sz="3200" dirty="0"/>
            </a:br>
            <a:r>
              <a:rPr lang="en-US" sz="3200" dirty="0"/>
              <a:t>• Real-time dashboard integration</a:t>
            </a:r>
            <a:endParaRPr lang="en-IN" sz="3200" dirty="0"/>
          </a:p>
        </p:txBody>
      </p:sp>
    </p:spTree>
    <p:extLst>
      <p:ext uri="{BB962C8B-B14F-4D97-AF65-F5344CB8AC3E}">
        <p14:creationId xmlns:p14="http://schemas.microsoft.com/office/powerpoint/2010/main" val="710117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661CD3-41F3-9BB1-DD80-704E5264CB3A}"/>
              </a:ext>
            </a:extLst>
          </p:cNvPr>
          <p:cNvSpPr txBox="1"/>
          <p:nvPr/>
        </p:nvSpPr>
        <p:spPr>
          <a:xfrm>
            <a:off x="3211068" y="2228671"/>
            <a:ext cx="5769864" cy="1200329"/>
          </a:xfrm>
          <a:prstGeom prst="rect">
            <a:avLst/>
          </a:prstGeom>
          <a:noFill/>
        </p:spPr>
        <p:txBody>
          <a:bodyPr wrap="square" rtlCol="0">
            <a:spAutoFit/>
          </a:bodyPr>
          <a:lstStyle/>
          <a:p>
            <a:r>
              <a:rPr lang="en-IN" sz="7200" b="1" dirty="0"/>
              <a:t>THANK YOU</a:t>
            </a:r>
          </a:p>
        </p:txBody>
      </p:sp>
    </p:spTree>
    <p:extLst>
      <p:ext uri="{BB962C8B-B14F-4D97-AF65-F5344CB8AC3E}">
        <p14:creationId xmlns:p14="http://schemas.microsoft.com/office/powerpoint/2010/main" val="16247460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494</TotalTime>
  <Words>847</Words>
  <Application>Microsoft Office PowerPoint</Application>
  <PresentationFormat>Widescreen</PresentationFormat>
  <Paragraphs>74</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Aparajita</vt:lpstr>
      <vt:lpstr>Arial</vt:lpstr>
      <vt:lpstr>Arial Black</vt:lpstr>
      <vt:lpstr>Calibri</vt:lpstr>
      <vt:lpstr>Engravers MT</vt:lpstr>
      <vt:lpstr>Times New Roman</vt:lpstr>
      <vt:lpstr>Tw Cen MT</vt:lpstr>
      <vt:lpstr>Tw Cen MT Condensed</vt:lpstr>
      <vt:lpstr>Wingdings</vt:lpstr>
      <vt:lpstr>Wingdings 3</vt:lpstr>
      <vt:lpstr>Integral</vt:lpstr>
      <vt:lpstr>A R ENGINEERING COLLEGE  VILLUPURAM-605601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Mahendra Kumar</dc:creator>
  <cp:lastModifiedBy>yokesh j</cp:lastModifiedBy>
  <cp:revision>18</cp:revision>
  <dcterms:created xsi:type="dcterms:W3CDTF">2026-03-18T09:41:44Z</dcterms:created>
  <dcterms:modified xsi:type="dcterms:W3CDTF">2026-05-07T06:03:41Z</dcterms:modified>
</cp:coreProperties>
</file>